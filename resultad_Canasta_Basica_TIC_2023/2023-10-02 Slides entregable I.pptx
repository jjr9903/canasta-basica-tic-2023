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37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8" r:id="rId3"/>
    <p:sldId id="355" r:id="rId4"/>
    <p:sldId id="350" r:id="rId5"/>
    <p:sldId id="353" r:id="rId6"/>
    <p:sldId id="348" r:id="rId7"/>
    <p:sldId id="346" r:id="rId8"/>
    <p:sldId id="349" r:id="rId9"/>
    <p:sldId id="352" r:id="rId10"/>
    <p:sldId id="351" r:id="rId11"/>
    <p:sldId id="354" r:id="rId12"/>
    <p:sldId id="356" r:id="rId13"/>
    <p:sldId id="313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B5E"/>
    <a:srgbClr val="CDCDCD"/>
    <a:srgbClr val="B3B3B3"/>
    <a:srgbClr val="002453"/>
    <a:srgbClr val="D8D8D8"/>
    <a:srgbClr val="70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291" autoAdjust="0"/>
  </p:normalViewPr>
  <p:slideViewPr>
    <p:cSldViewPr snapToGrid="0">
      <p:cViewPr varScale="1">
        <p:scale>
          <a:sx n="96" d="100"/>
          <a:sy n="96" d="100"/>
        </p:scale>
        <p:origin x="73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2696B31-7258-BED6-9C1D-18749C862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537977-DB22-AD28-1F7B-16AEA07BBB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79F77-0CD3-44A8-9099-6065D9B07F62}" type="datetimeFigureOut">
              <a:rPr lang="es-CO" smtClean="0"/>
              <a:t>2023/10/17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25B5D3-2822-411F-6346-58408C8713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DF8AFD-BC56-05E0-9C86-6EBFD3BA2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97EC0-B51D-4005-BADB-9B5800E16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46949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8167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279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08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about:blank" TargetMode="External"/><Relationship Id="rId11" Type="http://schemas.openxmlformats.org/officeDocument/2006/relationships/image" Target="../media/image13.sv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5677FC81-F047-047C-8F20-124F584C5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9001" y="4708285"/>
            <a:ext cx="1671255" cy="376975"/>
          </a:xfrm>
          <a:prstGeom prst="rect">
            <a:avLst/>
          </a:prstGeom>
        </p:spPr>
      </p:pic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1509DD7-43EF-B06C-95B5-0AC034EDE9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5410" y="117298"/>
            <a:ext cx="2271418" cy="709818"/>
          </a:xfrm>
          <a:prstGeom prst="rect">
            <a:avLst/>
          </a:prstGeom>
        </p:spPr>
      </p:pic>
      <p:pic>
        <p:nvPicPr>
          <p:cNvPr id="7" name="Imagen 6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BF04D0D-F823-D5D9-4315-DF01787AB7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4858" y="213049"/>
            <a:ext cx="1676646" cy="5827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CAD388C-2976-7ECF-2F1E-0A3DAFF39ED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350" y="4651703"/>
            <a:ext cx="1264547" cy="4130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9527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tx2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F0388E16-2484-102E-BA0D-47532C5FCE5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42759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bg1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475D5070-B953-D0CC-20EE-B1125710E93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015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1_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3" y="42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 hasCustomPrompt="1"/>
          </p:nvPr>
        </p:nvSpPr>
        <p:spPr>
          <a:xfrm>
            <a:off x="814276" y="392576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CO" dirty="0"/>
              <a:t>SUBTITULO</a:t>
            </a:r>
            <a:endParaRPr dirty="0"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1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063" lvl="0" indent="-380885">
              <a:spcBef>
                <a:spcPts val="600"/>
              </a:spcBef>
              <a:spcAft>
                <a:spcPts val="0"/>
              </a:spcAft>
              <a:buClr>
                <a:schemeClr val="tx2">
                  <a:lumMod val="50000"/>
                </a:schemeClr>
              </a:buClr>
              <a:buSzPts val="2400"/>
              <a:buChar char="▰"/>
              <a:defRPr sz="1600">
                <a:latin typeface="+mn-lt"/>
                <a:cs typeface="Arial" panose="020B0604020202020204" pitchFamily="34" charset="0"/>
              </a:defRPr>
            </a:lvl1pPr>
            <a:lvl2pPr marL="914126" lvl="1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188" lvl="2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251" lvl="3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5314" lvl="4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2377" lvl="5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199440" lvl="6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6503" lvl="7" indent="-380885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3566" lvl="8" indent="-380885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049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063" lvl="0" indent="-418974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126" lvl="1" indent="-418974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2pPr>
            <a:lvl3pPr marL="1371188" lvl="2" indent="-418974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3pPr>
            <a:lvl4pPr marL="1828251" lvl="3" indent="-418974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4pPr>
            <a:lvl5pPr marL="2285314" lvl="4" indent="-418974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5pPr>
            <a:lvl6pPr marL="2742377" lvl="5" indent="-418974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6pPr>
            <a:lvl7pPr marL="3199440" lvl="6" indent="-418974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7pPr>
            <a:lvl8pPr marL="3656503" lvl="7" indent="-418974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8pPr>
            <a:lvl9pPr marL="4113566" lvl="8" indent="-418974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2999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29776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999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CO" dirty="0"/>
              <a:t>SUBTITULO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5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20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8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 hasCustomPrompt="1"/>
          </p:nvPr>
        </p:nvSpPr>
        <p:spPr>
          <a:xfrm>
            <a:off x="463526" y="2871149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9pPr>
          </a:lstStyle>
          <a:p>
            <a:r>
              <a:rPr lang="es-CO" dirty="0"/>
              <a:t>TITULO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6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6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42813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20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8" cy="2027268"/>
            <a:chOff x="-9894852" y="-4493254"/>
            <a:chExt cx="21200407" cy="6522740"/>
          </a:xfrm>
          <a:solidFill>
            <a:schemeClr val="accent5"/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 hasCustomPrompt="1"/>
          </p:nvPr>
        </p:nvSpPr>
        <p:spPr>
          <a:xfrm>
            <a:off x="463526" y="2871149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9pPr>
          </a:lstStyle>
          <a:p>
            <a:r>
              <a:rPr lang="es-CO" dirty="0"/>
              <a:t>TITULO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6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6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138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20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8" cy="2027268"/>
            <a:chOff x="-9894852" y="-4493254"/>
            <a:chExt cx="21200407" cy="6522740"/>
          </a:xfrm>
          <a:solidFill>
            <a:schemeClr val="tx2">
              <a:lumMod val="50000"/>
            </a:schemeClr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 hasCustomPrompt="1"/>
          </p:nvPr>
        </p:nvSpPr>
        <p:spPr>
          <a:xfrm>
            <a:off x="463526" y="2871149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2999"/>
            </a:lvl9pPr>
          </a:lstStyle>
          <a:p>
            <a:r>
              <a:rPr lang="es-CO" dirty="0"/>
              <a:t>TITULO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6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1999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8741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093335"/>
            <a:ext cx="9144000" cy="501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Rectangle 12"/>
          <p:cNvSpPr/>
          <p:nvPr/>
        </p:nvSpPr>
        <p:spPr>
          <a:xfrm>
            <a:off x="8598792" y="4788976"/>
            <a:ext cx="293953" cy="3545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8792" y="4819491"/>
            <a:ext cx="293954" cy="273844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14" name="Rectangle 13"/>
          <p:cNvSpPr/>
          <p:nvPr/>
        </p:nvSpPr>
        <p:spPr>
          <a:xfrm>
            <a:off x="251255" y="239563"/>
            <a:ext cx="595187" cy="639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Rectangle 14"/>
          <p:cNvSpPr/>
          <p:nvPr/>
        </p:nvSpPr>
        <p:spPr>
          <a:xfrm>
            <a:off x="846441" y="239563"/>
            <a:ext cx="439878" cy="639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1818898" y="239563"/>
            <a:ext cx="636815" cy="639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7" name="Rectangle 16"/>
          <p:cNvSpPr/>
          <p:nvPr/>
        </p:nvSpPr>
        <p:spPr>
          <a:xfrm>
            <a:off x="1286319" y="239563"/>
            <a:ext cx="532578" cy="639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01456036"/>
      </p:ext>
    </p:extLst>
  </p:cSld>
  <p:clrMapOvr>
    <a:masterClrMapping/>
  </p:clrMapOvr>
  <p:transition>
    <p:fade thruBlk="1"/>
  </p:transition>
  <p:hf hdr="0" ftr="0" dt="0"/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  <p15:guide id="2" pos="211">
          <p15:clr>
            <a:srgbClr val="FBAE40"/>
          </p15:clr>
        </p15:guide>
        <p15:guide id="3" pos="7468">
          <p15:clr>
            <a:srgbClr val="FBAE40"/>
          </p15:clr>
        </p15:guide>
        <p15:guide id="4" orient="horz" pos="91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5093335"/>
            <a:ext cx="9144000" cy="50165"/>
          </a:xfrm>
          <a:prstGeom prst="rect">
            <a:avLst/>
          </a:prstGeom>
          <a:gradFill>
            <a:gsLst>
              <a:gs pos="0">
                <a:schemeClr val="accent3"/>
              </a:gs>
              <a:gs pos="51000">
                <a:schemeClr val="accent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Rectangle 12"/>
          <p:cNvSpPr/>
          <p:nvPr/>
        </p:nvSpPr>
        <p:spPr>
          <a:xfrm>
            <a:off x="8598792" y="4788976"/>
            <a:ext cx="293953" cy="3545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4" name="Rectangle 13"/>
          <p:cNvSpPr/>
          <p:nvPr/>
        </p:nvSpPr>
        <p:spPr>
          <a:xfrm>
            <a:off x="251255" y="239563"/>
            <a:ext cx="595187" cy="639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Rectangle 14"/>
          <p:cNvSpPr/>
          <p:nvPr/>
        </p:nvSpPr>
        <p:spPr>
          <a:xfrm>
            <a:off x="846441" y="239563"/>
            <a:ext cx="162014" cy="639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1170469" y="239563"/>
            <a:ext cx="162014" cy="639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7" name="Rectangle 16"/>
          <p:cNvSpPr/>
          <p:nvPr/>
        </p:nvSpPr>
        <p:spPr>
          <a:xfrm>
            <a:off x="1008455" y="239563"/>
            <a:ext cx="162014" cy="63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4" tIns="34282" rIns="68564" bIns="342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E3125D-4BA1-20B4-7461-FC13F6B8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8792" y="4819491"/>
            <a:ext cx="293954" cy="273844"/>
          </a:xfrm>
          <a:prstGeom prst="rect">
            <a:avLst/>
          </a:prstGeom>
        </p:spPr>
        <p:txBody>
          <a:bodyPr/>
          <a:lstStyle>
            <a:lvl1pPr algn="ctr">
              <a:defRPr sz="75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612372"/>
      </p:ext>
    </p:extLst>
  </p:cSld>
  <p:clrMapOvr>
    <a:masterClrMapping/>
  </p:clrMapOvr>
  <p:transition>
    <p:fade thruBlk="1"/>
  </p:transition>
  <p:hf hdr="0" ftr="0" dt="0"/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  <p15:guide id="2" pos="211">
          <p15:clr>
            <a:srgbClr val="FBAE40"/>
          </p15:clr>
        </p15:guide>
        <p15:guide id="3" pos="7468">
          <p15:clr>
            <a:srgbClr val="FBAE40"/>
          </p15:clr>
        </p15:guide>
        <p15:guide id="4" orient="horz" pos="91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bg>
      <p:bgPr>
        <a:gradFill flip="none" rotWithShape="1">
          <a:gsLst>
            <a:gs pos="0">
              <a:schemeClr val="accent4"/>
            </a:gs>
            <a:gs pos="40000">
              <a:schemeClr val="accent4">
                <a:lumMod val="0"/>
                <a:lumOff val="100000"/>
              </a:schemeClr>
            </a:gs>
            <a:gs pos="100000">
              <a:schemeClr val="accent3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43794-C27A-D590-0A54-5002E4182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235" y="2188651"/>
            <a:ext cx="6043532" cy="766200"/>
          </a:xfrm>
          <a:prstGeom prst="rect">
            <a:avLst/>
          </a:prstGeom>
        </p:spPr>
        <p:txBody>
          <a:bodyPr/>
          <a:lstStyle>
            <a:lvl1pPr algn="ctr">
              <a:defRPr sz="4799" b="1">
                <a:solidFill>
                  <a:schemeClr val="accent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TITULO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82154876"/>
      </p:ext>
    </p:extLst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8B4999F-4DA1-E21C-7E3E-B0849B3366C5}"/>
              </a:ext>
            </a:extLst>
          </p:cNvPr>
          <p:cNvSpPr/>
          <p:nvPr userDrawn="1"/>
        </p:nvSpPr>
        <p:spPr>
          <a:xfrm>
            <a:off x="0" y="0"/>
            <a:ext cx="9144000" cy="84999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4B1D48-89F2-60BE-EA89-9E9D669B0CCF}"/>
              </a:ext>
            </a:extLst>
          </p:cNvPr>
          <p:cNvSpPr/>
          <p:nvPr userDrawn="1"/>
        </p:nvSpPr>
        <p:spPr>
          <a:xfrm>
            <a:off x="0" y="4293506"/>
            <a:ext cx="9144000" cy="84999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6334E4B-1267-70F6-3B9F-B1CEB1819F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234" y="676131"/>
            <a:ext cx="6043532" cy="766200"/>
          </a:xfrm>
          <a:prstGeom prst="rect">
            <a:avLst/>
          </a:prstGeom>
        </p:spPr>
        <p:txBody>
          <a:bodyPr/>
          <a:lstStyle>
            <a:lvl1pPr algn="ctr">
              <a:defRPr sz="3600" b="0">
                <a:solidFill>
                  <a:schemeClr val="accent3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agregar texto</a:t>
            </a:r>
            <a:endParaRPr lang="es-CO" dirty="0"/>
          </a:p>
        </p:txBody>
      </p:sp>
      <p:pic>
        <p:nvPicPr>
          <p:cNvPr id="2" name="Imagen 1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D86F1ED-C4BC-7445-5C45-9C6F660B2F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8473" y="3081035"/>
            <a:ext cx="3390256" cy="1059455"/>
          </a:xfrm>
          <a:prstGeom prst="rect">
            <a:avLst/>
          </a:prstGeom>
        </p:spPr>
      </p:pic>
      <p:pic>
        <p:nvPicPr>
          <p:cNvPr id="5" name="Imagen 4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F8C5BC1B-2C17-4466-EFDE-D81271AEA8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0234" y="2206175"/>
            <a:ext cx="1531250" cy="532235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B5334C5A-FD79-AFDC-DBDC-C6DB5A4B7AA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6019" y="2300179"/>
            <a:ext cx="2084346" cy="4701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6F4114D-F441-DF93-AF50-B258D59004F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27" y="3293467"/>
            <a:ext cx="1629291" cy="5322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211467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nicio">
    <p:bg>
      <p:bgPr>
        <a:gradFill>
          <a:gsLst>
            <a:gs pos="0">
              <a:srgbClr val="D8D8D8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CF2EAF1C-F89E-67AE-966F-CAED618A4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76" y="864571"/>
            <a:ext cx="5079847" cy="1066587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9432F884-5C77-4B8D-6C02-DD34A52D28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3770" y="2571750"/>
            <a:ext cx="3356460" cy="167823"/>
          </a:xfrm>
          <a:prstGeom prst="rect">
            <a:avLst/>
          </a:prstGeom>
        </p:spPr>
      </p:pic>
      <p:pic>
        <p:nvPicPr>
          <p:cNvPr id="12" name="Gráfico 11">
            <a:hlinkClick r:id="rId6"/>
            <a:extLst>
              <a:ext uri="{FF2B5EF4-FFF2-40B4-BE49-F238E27FC236}">
                <a16:creationId xmlns:a16="http://schemas.microsoft.com/office/drawing/2014/main" id="{60884FD1-08CA-58B9-E691-9C3A116E91E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295" y="3736004"/>
            <a:ext cx="1647825" cy="1085850"/>
          </a:xfrm>
          <a:prstGeom prst="rect">
            <a:avLst/>
          </a:prstGeom>
        </p:spPr>
      </p:pic>
      <p:pic>
        <p:nvPicPr>
          <p:cNvPr id="18" name="Imagen 17" descr="Código QR&#10;&#10;Descripción generada automáticamente">
            <a:extLst>
              <a:ext uri="{FF2B5EF4-FFF2-40B4-BE49-F238E27FC236}">
                <a16:creationId xmlns:a16="http://schemas.microsoft.com/office/drawing/2014/main" id="{77FF12CE-892F-87D1-7512-088539E9201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29656" y="3736004"/>
            <a:ext cx="755674" cy="755674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AF50F1F9-8FDE-A54E-EE8C-D405C4EAB3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50280" y="4564679"/>
            <a:ext cx="11144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2616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9" y="4472724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1" y="4636500"/>
            <a:ext cx="493426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chemeClr val="accent4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1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C2B2A0-13EC-86E3-AD40-637686E60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1" y="903289"/>
            <a:ext cx="7854950" cy="32527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n-lt"/>
                <a:cs typeface="Arial" panose="020B0604020202020204" pitchFamily="34" charset="0"/>
              </a:defRPr>
            </a:lvl1pPr>
            <a:lvl2pPr>
              <a:defRPr sz="1100">
                <a:latin typeface="+mn-lt"/>
                <a:cs typeface="Arial" panose="020B0604020202020204" pitchFamily="34" charset="0"/>
              </a:defRPr>
            </a:lvl2pPr>
            <a:lvl3pPr>
              <a:defRPr sz="1100">
                <a:latin typeface="+mn-lt"/>
                <a:cs typeface="Arial" panose="020B0604020202020204" pitchFamily="34" charset="0"/>
              </a:defRPr>
            </a:lvl3pPr>
            <a:lvl4pPr>
              <a:defRPr sz="1100">
                <a:latin typeface="+mn-lt"/>
                <a:cs typeface="Arial" panose="020B0604020202020204" pitchFamily="34" charset="0"/>
              </a:defRPr>
            </a:lvl4pPr>
            <a:lvl5pPr>
              <a:defRPr sz="11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00F41-D699-8112-3AB7-2C4EA664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574" y="198402"/>
            <a:ext cx="6190877" cy="3077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sz="2000" b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590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tx2">
              <a:lumMod val="50000"/>
            </a:schemeClr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139E3F-6EC8-47AB-828B-A221CE4B5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95152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86458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3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39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5191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1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76013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522160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11430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D5C9839-7465-00BE-CE85-FFB57E22F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75" y="1557447"/>
            <a:ext cx="6958012" cy="2959100"/>
          </a:xfrm>
          <a:prstGeom prst="rect">
            <a:avLst/>
          </a:prstGeom>
        </p:spPr>
        <p:txBody>
          <a:bodyPr anchor="t"/>
          <a:lstStyle>
            <a:lvl1pPr marL="76200" indent="0">
              <a:buFontTx/>
              <a:buNone/>
              <a:defRPr sz="1400">
                <a:latin typeface="+mn-lt"/>
                <a:cs typeface="Arial" panose="020B0604020202020204" pitchFamily="34" charset="0"/>
              </a:defRPr>
            </a:lvl1pPr>
            <a:lvl2pPr marL="533400" indent="0">
              <a:buFontTx/>
              <a:buNone/>
              <a:defRPr sz="1600">
                <a:latin typeface="+mn-lt"/>
              </a:defRPr>
            </a:lvl2pPr>
            <a:lvl3pPr marL="990600" indent="0">
              <a:buFontTx/>
              <a:buNone/>
              <a:defRPr sz="1600">
                <a:latin typeface="+mn-lt"/>
              </a:defRPr>
            </a:lvl3pPr>
            <a:lvl4pPr marL="1447800" indent="0">
              <a:buFontTx/>
              <a:buNone/>
              <a:defRPr sz="1600">
                <a:latin typeface="+mn-lt"/>
              </a:defRPr>
            </a:lvl4pPr>
            <a:lvl5pPr marL="1905000" indent="0">
              <a:buFontTx/>
              <a:buNone/>
              <a:defRPr sz="1600"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184446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bg>
      <p:bgPr>
        <a:gradFill flip="none" rotWithShape="1">
          <a:gsLst>
            <a:gs pos="0">
              <a:schemeClr val="accent4"/>
            </a:gs>
            <a:gs pos="40000">
              <a:schemeClr val="accent4">
                <a:lumMod val="0"/>
                <a:lumOff val="100000"/>
              </a:schemeClr>
            </a:gs>
            <a:gs pos="100000">
              <a:schemeClr val="accent3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43794-C27A-D590-0A54-5002E418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34" y="2188650"/>
            <a:ext cx="6043532" cy="766200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accent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17358998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tx2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F0388E16-2484-102E-BA0D-47532C5FCE5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117404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bg1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475D5070-B953-D0CC-20EE-B1125710E93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3225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accent5"/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59B6F103-E1E7-190C-7223-3C38253EC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147553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139E3F-6EC8-47AB-828B-A221CE4B5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14174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tx2">
              <a:lumMod val="50000"/>
            </a:schemeClr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139E3F-6EC8-47AB-828B-A221CE4B5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104414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chemeClr val="accent4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C2B2A0-13EC-86E3-AD40-637686E60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903288"/>
            <a:ext cx="7854950" cy="32527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n-lt"/>
                <a:cs typeface="Arial" panose="020B0604020202020204" pitchFamily="34" charset="0"/>
              </a:defRPr>
            </a:lvl1pPr>
            <a:lvl2pPr>
              <a:defRPr sz="1100">
                <a:latin typeface="+mn-lt"/>
                <a:cs typeface="Arial" panose="020B0604020202020204" pitchFamily="34" charset="0"/>
              </a:defRPr>
            </a:lvl2pPr>
            <a:lvl3pPr>
              <a:defRPr sz="1100">
                <a:latin typeface="+mn-lt"/>
                <a:cs typeface="Arial" panose="020B0604020202020204" pitchFamily="34" charset="0"/>
              </a:defRPr>
            </a:lvl3pPr>
            <a:lvl4pPr>
              <a:defRPr sz="1100">
                <a:latin typeface="+mn-lt"/>
                <a:cs typeface="Arial" panose="020B0604020202020204" pitchFamily="34" charset="0"/>
              </a:defRPr>
            </a:lvl4pPr>
            <a:lvl5pPr>
              <a:defRPr sz="11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38375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153274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3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1895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5092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7771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1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83088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927242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078831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D5C9839-7465-00BE-CE85-FFB57E22F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75" y="1557447"/>
            <a:ext cx="6958012" cy="2959100"/>
          </a:xfrm>
          <a:prstGeom prst="rect">
            <a:avLst/>
          </a:prstGeom>
        </p:spPr>
        <p:txBody>
          <a:bodyPr anchor="t"/>
          <a:lstStyle>
            <a:lvl1pPr marL="76200" indent="0">
              <a:buFontTx/>
              <a:buNone/>
              <a:defRPr sz="1400">
                <a:latin typeface="+mn-lt"/>
                <a:cs typeface="Arial" panose="020B0604020202020204" pitchFamily="34" charset="0"/>
              </a:defRPr>
            </a:lvl1pPr>
            <a:lvl2pPr marL="533400" indent="0">
              <a:buFontTx/>
              <a:buNone/>
              <a:defRPr sz="1600">
                <a:latin typeface="+mn-lt"/>
              </a:defRPr>
            </a:lvl2pPr>
            <a:lvl3pPr marL="990600" indent="0">
              <a:buFontTx/>
              <a:buNone/>
              <a:defRPr sz="1600">
                <a:latin typeface="+mn-lt"/>
              </a:defRPr>
            </a:lvl3pPr>
            <a:lvl4pPr marL="1447800" indent="0">
              <a:buFontTx/>
              <a:buNone/>
              <a:defRPr sz="1600">
                <a:latin typeface="+mn-lt"/>
              </a:defRPr>
            </a:lvl4pPr>
            <a:lvl5pPr marL="1905000" indent="0">
              <a:buFontTx/>
              <a:buNone/>
              <a:defRPr sz="1600"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240606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seño personalizado">
    <p:bg>
      <p:bgPr>
        <a:gradFill flip="none" rotWithShape="1">
          <a:gsLst>
            <a:gs pos="0">
              <a:schemeClr val="accent4"/>
            </a:gs>
            <a:gs pos="40000">
              <a:schemeClr val="accent4">
                <a:lumMod val="0"/>
                <a:lumOff val="100000"/>
              </a:schemeClr>
            </a:gs>
            <a:gs pos="100000">
              <a:schemeClr val="accent3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43794-C27A-D590-0A54-5002E418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34" y="2188650"/>
            <a:ext cx="6043532" cy="766200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accent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5398909"/>
      </p:ext>
    </p:extLst>
  </p:cSld>
  <p:clrMapOvr>
    <a:masterClrMapping/>
  </p:clrMapOvr>
  <p:transition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tx2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F0388E16-2484-102E-BA0D-47532C5FCE5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1229800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1" y="-7087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3" y="4472724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392" tIns="91392" rIns="91392" bIns="9139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3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9" name="Google Shape;59;p4"/>
          <p:cNvSpPr txBox="1"/>
          <p:nvPr/>
        </p:nvSpPr>
        <p:spPr>
          <a:xfrm>
            <a:off x="648112" y="2006518"/>
            <a:ext cx="5402987" cy="127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2" tIns="91392" rIns="91392" bIns="9139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99" b="1" dirty="0">
              <a:solidFill>
                <a:schemeClr val="bg1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1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Google Shape;22;p2">
            <a:extLst>
              <a:ext uri="{FF2B5EF4-FFF2-40B4-BE49-F238E27FC236}">
                <a16:creationId xmlns:a16="http://schemas.microsoft.com/office/drawing/2014/main" id="{475D5070-B953-D0CC-20EE-B1125710E93B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799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799"/>
            </a:lvl9pPr>
          </a:lstStyle>
          <a:p>
            <a:r>
              <a:rPr lang="es-CO" dirty="0"/>
              <a:t>TITULO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31893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1_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C0C123B1-ED27-477E-DB53-D3B6DF98F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903288"/>
            <a:ext cx="7854950" cy="32527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n-lt"/>
                <a:cs typeface="Arial" panose="020B0604020202020204" pitchFamily="34" charset="0"/>
              </a:defRPr>
            </a:lvl1pPr>
            <a:lvl2pPr>
              <a:defRPr sz="1100">
                <a:latin typeface="+mn-lt"/>
                <a:cs typeface="Arial" panose="020B0604020202020204" pitchFamily="34" charset="0"/>
              </a:defRPr>
            </a:lvl2pPr>
            <a:lvl3pPr>
              <a:defRPr sz="1100">
                <a:latin typeface="+mn-lt"/>
                <a:cs typeface="Arial" panose="020B0604020202020204" pitchFamily="34" charset="0"/>
              </a:defRPr>
            </a:lvl3pPr>
            <a:lvl4pPr>
              <a:defRPr sz="1100">
                <a:latin typeface="+mn-lt"/>
                <a:cs typeface="Arial" panose="020B0604020202020204" pitchFamily="34" charset="0"/>
              </a:defRPr>
            </a:lvl4pPr>
            <a:lvl5pPr>
              <a:defRPr sz="11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8461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userDrawn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accent5"/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59B6F103-E1E7-190C-7223-3C38253EC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135755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userDrawn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tx2">
                    <a:lumMod val="9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139E3F-6EC8-47AB-828B-A221CE4B5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endParaRPr lang="es-CO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 userDrawn="1">
  <p:cSld name="1_Sub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tx2">
              <a:lumMod val="50000"/>
            </a:schemeClr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14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 dirty="0"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139E3F-6EC8-47AB-828B-A221CE4B5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3525" y="1195890"/>
            <a:ext cx="8603961" cy="1444625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4800">
                <a:solidFill>
                  <a:schemeClr val="bg2"/>
                </a:solidFill>
                <a:latin typeface="+mj-lt"/>
              </a:defRPr>
            </a:lvl2pPr>
            <a:lvl3pPr>
              <a:defRPr sz="4800">
                <a:solidFill>
                  <a:schemeClr val="bg2"/>
                </a:solidFill>
                <a:latin typeface="+mj-lt"/>
              </a:defRPr>
            </a:lvl3pPr>
            <a:lvl4pPr>
              <a:defRPr sz="4800">
                <a:solidFill>
                  <a:schemeClr val="bg2"/>
                </a:solidFill>
                <a:latin typeface="+mj-lt"/>
              </a:defRPr>
            </a:lvl4pPr>
            <a:lvl5pPr>
              <a:defRPr sz="48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041290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1_Ca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chemeClr val="accent4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C2B2A0-13EC-86E3-AD40-637686E60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" y="903288"/>
            <a:ext cx="7854950" cy="325278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n-lt"/>
                <a:cs typeface="Arial" panose="020B0604020202020204" pitchFamily="34" charset="0"/>
              </a:defRPr>
            </a:lvl1pPr>
            <a:lvl2pPr>
              <a:defRPr sz="1100">
                <a:latin typeface="+mn-lt"/>
                <a:cs typeface="Arial" panose="020B0604020202020204" pitchFamily="34" charset="0"/>
              </a:defRPr>
            </a:lvl2pPr>
            <a:lvl3pPr>
              <a:defRPr sz="1100">
                <a:latin typeface="+mn-lt"/>
                <a:cs typeface="Arial" panose="020B0604020202020204" pitchFamily="34" charset="0"/>
              </a:defRPr>
            </a:lvl3pPr>
            <a:lvl4pPr>
              <a:defRPr sz="1100">
                <a:latin typeface="+mn-lt"/>
                <a:cs typeface="Arial" panose="020B0604020202020204" pitchFamily="34" charset="0"/>
              </a:defRPr>
            </a:lvl4pPr>
            <a:lvl5pPr>
              <a:defRPr sz="11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55753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+mj-lt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79148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3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53594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ct val="150000"/>
              <a:buChar char="▰"/>
              <a:defRPr sz="1400" i="1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Google Shape;78;p5">
            <a:extLst>
              <a:ext uri="{FF2B5EF4-FFF2-40B4-BE49-F238E27FC236}">
                <a16:creationId xmlns:a16="http://schemas.microsoft.com/office/drawing/2014/main" id="{3F7B7454-4A86-FE08-53BD-4592E9AD5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775" y="218825"/>
            <a:ext cx="5383348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3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500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1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34FCB5D3-751D-FD02-72C8-033A115DD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357251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accent5"/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849945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tx2">
              <a:lumMod val="2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ea typeface="Arvo"/>
              <a:cs typeface="Arial" panose="020B0604020202020204" pitchFamily="34" charset="0"/>
              <a:sym typeface="Arvo"/>
            </a:endParaRPr>
          </a:p>
        </p:txBody>
      </p: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2">
              <a:lumMod val="50000"/>
            </a:schemeClr>
          </a:solidFill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4D2E32-8298-6D3E-2FF5-2C6F1C2390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776413"/>
            <a:ext cx="5345112" cy="1684337"/>
          </a:xfrm>
          <a:prstGeom prst="rect">
            <a:avLst/>
          </a:prstGeom>
        </p:spPr>
        <p:txBody>
          <a:bodyPr/>
          <a:lstStyle>
            <a:lvl1pPr marL="76200" indent="0">
              <a:buNone/>
              <a:defRPr sz="3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72718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ea typeface="Arvo"/>
                <a:cs typeface="Arial" panose="020B0604020202020204" pitchFamily="34" charset="0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Arial" panose="020B0604020202020204" pitchFamily="34" charset="0"/>
                  <a:ea typeface="Arvo"/>
                  <a:cs typeface="Arial" panose="020B0604020202020204" pitchFamily="34" charset="0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bg1"/>
                </a:solidFill>
                <a:latin typeface="+mj-lt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D5C9839-7465-00BE-CE85-FFB57E22FB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275" y="1557447"/>
            <a:ext cx="6958012" cy="2959100"/>
          </a:xfrm>
          <a:prstGeom prst="rect">
            <a:avLst/>
          </a:prstGeom>
        </p:spPr>
        <p:txBody>
          <a:bodyPr anchor="t"/>
          <a:lstStyle>
            <a:lvl1pPr marL="76200" indent="0">
              <a:buFontTx/>
              <a:buNone/>
              <a:defRPr sz="1400">
                <a:latin typeface="+mn-lt"/>
                <a:cs typeface="Arial" panose="020B0604020202020204" pitchFamily="34" charset="0"/>
              </a:defRPr>
            </a:lvl1pPr>
            <a:lvl2pPr marL="533400" indent="0">
              <a:buFontTx/>
              <a:buNone/>
              <a:defRPr sz="1600">
                <a:latin typeface="+mn-lt"/>
              </a:defRPr>
            </a:lvl2pPr>
            <a:lvl3pPr marL="990600" indent="0">
              <a:buFontTx/>
              <a:buNone/>
              <a:defRPr sz="1600">
                <a:latin typeface="+mn-lt"/>
              </a:defRPr>
            </a:lvl3pPr>
            <a:lvl4pPr marL="1447800" indent="0">
              <a:buFontTx/>
              <a:buNone/>
              <a:defRPr sz="1600">
                <a:latin typeface="+mn-lt"/>
              </a:defRPr>
            </a:lvl4pPr>
            <a:lvl5pPr marL="1905000" indent="0">
              <a:buFontTx/>
              <a:buNone/>
              <a:defRPr sz="1600">
                <a:latin typeface="+mn-lt"/>
              </a:defRPr>
            </a:lvl5pPr>
          </a:lstStyle>
          <a:p>
            <a:pPr lvl="0"/>
            <a:endParaRPr lang="es-CO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gradFill flip="none" rotWithShape="1">
          <a:gsLst>
            <a:gs pos="0">
              <a:schemeClr val="accent4"/>
            </a:gs>
            <a:gs pos="40000">
              <a:schemeClr val="accent4">
                <a:lumMod val="0"/>
                <a:lumOff val="100000"/>
              </a:schemeClr>
            </a:gs>
            <a:gs pos="100000">
              <a:schemeClr val="accent3"/>
            </a:gs>
          </a:gsLst>
          <a:lin ang="3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43794-C27A-D590-0A54-5002E418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34" y="2188650"/>
            <a:ext cx="6043532" cy="766200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accent5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s-CO" dirty="0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0786435F-566E-45B3-6B4E-BDB5D0BD07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179" y="163550"/>
            <a:ext cx="2100530" cy="47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61696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349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2" r:id="rId4"/>
    <p:sldLayoutId id="2147483744" r:id="rId5"/>
    <p:sldLayoutId id="2147483745" r:id="rId6"/>
    <p:sldLayoutId id="2147483746" r:id="rId7"/>
    <p:sldLayoutId id="2147483747" r:id="rId8"/>
    <p:sldLayoutId id="2147483754" r:id="rId9"/>
    <p:sldLayoutId id="2147483756" r:id="rId10"/>
    <p:sldLayoutId id="2147483757" r:id="rId11"/>
    <p:sldLayoutId id="2147483791" r:id="rId12"/>
    <p:sldLayoutId id="2147483758" r:id="rId13"/>
    <p:sldLayoutId id="2147483760" r:id="rId14"/>
    <p:sldLayoutId id="2147483764" r:id="rId15"/>
    <p:sldLayoutId id="2147483766" r:id="rId16"/>
    <p:sldLayoutId id="2147483767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8" r:id="rId26"/>
    <p:sldLayoutId id="2147483779" r:id="rId27"/>
    <p:sldLayoutId id="2147483780" r:id="rId28"/>
    <p:sldLayoutId id="2147483781" r:id="rId29"/>
    <p:sldLayoutId id="2147483782" r:id="rId30"/>
    <p:sldLayoutId id="2147483783" r:id="rId31"/>
    <p:sldLayoutId id="2147483784" r:id="rId32"/>
    <p:sldLayoutId id="2147483785" r:id="rId33"/>
    <p:sldLayoutId id="2147483786" r:id="rId34"/>
    <p:sldLayoutId id="2147483787" r:id="rId35"/>
    <p:sldLayoutId id="2147483788" r:id="rId36"/>
    <p:sldLayoutId id="2147483789" r:id="rId37"/>
    <p:sldLayoutId id="2147483790" r:id="rId38"/>
    <p:sldLayoutId id="2147483672" r:id="rId39"/>
    <p:sldLayoutId id="2147483673" r:id="rId40"/>
    <p:sldLayoutId id="2147483692" r:id="rId41"/>
    <p:sldLayoutId id="2147483693" r:id="rId42"/>
    <p:sldLayoutId id="2147483649" r:id="rId43"/>
    <p:sldLayoutId id="2147483697" r:id="rId44"/>
    <p:sldLayoutId id="2147483694" r:id="rId45"/>
    <p:sldLayoutId id="2147483695" r:id="rId46"/>
    <p:sldLayoutId id="2147483664" r:id="rId47"/>
    <p:sldLayoutId id="2147483650" r:id="rId48"/>
    <p:sldLayoutId id="2147483662" r:id="rId49"/>
    <p:sldLayoutId id="2147483665" r:id="rId50"/>
    <p:sldLayoutId id="2147483659" r:id="rId51"/>
    <p:sldLayoutId id="2147483696" r:id="rId52"/>
    <p:sldLayoutId id="2147483654" r:id="rId53"/>
    <p:sldLayoutId id="2147483658" r:id="rId5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8" b="0" i="0" u="none" strike="noStrike" cap="none" baseline="0">
          <a:solidFill>
            <a:srgbClr val="000000"/>
          </a:solidFill>
          <a:latin typeface="+mj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89D70-0A3C-AB0E-7864-59A2DF96E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50194"/>
            <a:ext cx="5879306" cy="2502456"/>
          </a:xfrm>
        </p:spPr>
        <p:txBody>
          <a:bodyPr/>
          <a:lstStyle/>
          <a:p>
            <a:r>
              <a:rPr lang="es-CO" sz="3600" dirty="0"/>
              <a:t>Estudio que determina la composición y el valor de una Canasta Básica TIC (CBT)  para Colombia.</a:t>
            </a:r>
            <a:br>
              <a:rPr lang="es-CO" dirty="0"/>
            </a:br>
            <a:endParaRPr lang="es-C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AABAFBF3-6335-7538-EF19-8763F35A2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675" y="4440301"/>
            <a:ext cx="4094400" cy="392400"/>
          </a:xfrm>
        </p:spPr>
        <p:txBody>
          <a:bodyPr/>
          <a:lstStyle/>
          <a:p>
            <a:r>
              <a:rPr lang="es-ES" sz="1600" dirty="0">
                <a:solidFill>
                  <a:schemeClr val="bg1"/>
                </a:solidFill>
              </a:rPr>
              <a:t>Bogotá, octubre 2 de 2023</a:t>
            </a:r>
          </a:p>
        </p:txBody>
      </p:sp>
      <p:sp>
        <p:nvSpPr>
          <p:cNvPr id="231" name="Google Shape;231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+mj-lt"/>
              </a:rPr>
              <a:t>2</a:t>
            </a:fld>
            <a:endParaRPr dirty="0">
              <a:latin typeface="+mj-lt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965DE4-4E99-2BCA-7767-4BA8561AC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314" y="3281426"/>
            <a:ext cx="5237163" cy="1158875"/>
          </a:xfrm>
        </p:spPr>
        <p:txBody>
          <a:bodyPr/>
          <a:lstStyle/>
          <a:p>
            <a:r>
              <a:rPr lang="es-CO" sz="2800" dirty="0" err="1"/>
              <a:t>Slides</a:t>
            </a:r>
            <a:r>
              <a:rPr lang="es-CO" sz="2800" dirty="0"/>
              <a:t> Entregable I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80718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D694FE2-1FD4-A6BE-ABDC-56A0B4C4E7F2}"/>
              </a:ext>
            </a:extLst>
          </p:cNvPr>
          <p:cNvSpPr/>
          <p:nvPr/>
        </p:nvSpPr>
        <p:spPr>
          <a:xfrm>
            <a:off x="1769165" y="1003561"/>
            <a:ext cx="5551077" cy="3349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C073CC7-744A-141E-9001-5C316D99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3</a:t>
            </a:fld>
            <a:endParaRPr lang="es-CO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C03E67-AADD-F139-F048-19154C4289B9}"/>
              </a:ext>
            </a:extLst>
          </p:cNvPr>
          <p:cNvSpPr/>
          <p:nvPr/>
        </p:nvSpPr>
        <p:spPr>
          <a:xfrm>
            <a:off x="1769166" y="1699593"/>
            <a:ext cx="4631634" cy="26537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F7B2BC-B8A3-557A-440F-24EBA59650BB}"/>
              </a:ext>
            </a:extLst>
          </p:cNvPr>
          <p:cNvSpPr/>
          <p:nvPr/>
        </p:nvSpPr>
        <p:spPr>
          <a:xfrm>
            <a:off x="1769166" y="2335697"/>
            <a:ext cx="3727174" cy="20176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863D5-511C-6D56-CB42-E5CE8B54903B}"/>
              </a:ext>
            </a:extLst>
          </p:cNvPr>
          <p:cNvSpPr/>
          <p:nvPr/>
        </p:nvSpPr>
        <p:spPr>
          <a:xfrm>
            <a:off x="1769166" y="3014873"/>
            <a:ext cx="2849213" cy="13384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Acceso orgánico sin intervención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3B7D35-3787-DC9D-C1B8-BE456A7F93B4}"/>
              </a:ext>
            </a:extLst>
          </p:cNvPr>
          <p:cNvSpPr txBox="1"/>
          <p:nvPr/>
        </p:nvSpPr>
        <p:spPr>
          <a:xfrm>
            <a:off x="3697355" y="4385635"/>
            <a:ext cx="1590261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Cobertura de red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AC587C-2406-0745-B108-C42FD42FE3B0}"/>
              </a:ext>
            </a:extLst>
          </p:cNvPr>
          <p:cNvSpPr txBox="1"/>
          <p:nvPr/>
        </p:nvSpPr>
        <p:spPr>
          <a:xfrm rot="16200000">
            <a:off x="766550" y="2528257"/>
            <a:ext cx="1590261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Cobertura de servicio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C658E7-ED68-987B-8A4B-9DA0DAF89A0D}"/>
              </a:ext>
            </a:extLst>
          </p:cNvPr>
          <p:cNvSpPr txBox="1"/>
          <p:nvPr/>
        </p:nvSpPr>
        <p:spPr>
          <a:xfrm>
            <a:off x="610839" y="732591"/>
            <a:ext cx="1257720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100% hogares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Servicio universal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DB330B-1CB5-9A31-DE79-C082DA591770}"/>
              </a:ext>
            </a:extLst>
          </p:cNvPr>
          <p:cNvSpPr txBox="1"/>
          <p:nvPr/>
        </p:nvSpPr>
        <p:spPr>
          <a:xfrm>
            <a:off x="6745974" y="4351272"/>
            <a:ext cx="1257720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100% cobertura 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población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C9A071-763C-5239-0559-1A7A98E370D6}"/>
              </a:ext>
            </a:extLst>
          </p:cNvPr>
          <p:cNvSpPr txBox="1"/>
          <p:nvPr/>
        </p:nvSpPr>
        <p:spPr>
          <a:xfrm>
            <a:off x="2095083" y="2442520"/>
            <a:ext cx="1257720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Brecha de eficiencia y expansión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5A38A9-36B1-0D5A-3BA8-5E15B129C311}"/>
              </a:ext>
            </a:extLst>
          </p:cNvPr>
          <p:cNvSpPr txBox="1"/>
          <p:nvPr/>
        </p:nvSpPr>
        <p:spPr>
          <a:xfrm>
            <a:off x="3171825" y="1819667"/>
            <a:ext cx="1257720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Zona de subvención inteligente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0777A8-CD43-123D-9505-C6C155C99F1D}"/>
              </a:ext>
            </a:extLst>
          </p:cNvPr>
          <p:cNvSpPr txBox="1"/>
          <p:nvPr/>
        </p:nvSpPr>
        <p:spPr>
          <a:xfrm>
            <a:off x="4546735" y="1127240"/>
            <a:ext cx="1257720" cy="41496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Brecha de acceso verdadera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D1F54C-3169-3AC4-2BF6-564112549785}"/>
              </a:ext>
            </a:extLst>
          </p:cNvPr>
          <p:cNvSpPr txBox="1"/>
          <p:nvPr/>
        </p:nvSpPr>
        <p:spPr>
          <a:xfrm>
            <a:off x="4758769" y="3486125"/>
            <a:ext cx="658057" cy="5301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Ajuste 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normas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9F1EE8-0E0D-D7E7-B821-6594C0D17B95}"/>
              </a:ext>
            </a:extLst>
          </p:cNvPr>
          <p:cNvSpPr txBox="1"/>
          <p:nvPr/>
        </p:nvSpPr>
        <p:spPr>
          <a:xfrm>
            <a:off x="5567152" y="3479501"/>
            <a:ext cx="658057" cy="5301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Subvención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CAPEX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E60A7B9-994B-541B-2746-25278E1D0249}"/>
              </a:ext>
            </a:extLst>
          </p:cNvPr>
          <p:cNvSpPr txBox="1"/>
          <p:nvPr/>
        </p:nvSpPr>
        <p:spPr>
          <a:xfrm>
            <a:off x="6365599" y="3482816"/>
            <a:ext cx="658057" cy="53013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Subvención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/>
              <a:t>OPEX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F1EE638E-7404-312B-A123-53D1480C2EB3}"/>
              </a:ext>
            </a:extLst>
          </p:cNvPr>
          <p:cNvSpPr/>
          <p:nvPr/>
        </p:nvSpPr>
        <p:spPr>
          <a:xfrm rot="19449421">
            <a:off x="4540111" y="2641323"/>
            <a:ext cx="1032430" cy="12088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F66E8EF-987D-3E3E-B409-B6A4183A3EF7}"/>
              </a:ext>
            </a:extLst>
          </p:cNvPr>
          <p:cNvSpPr/>
          <p:nvPr/>
        </p:nvSpPr>
        <p:spPr>
          <a:xfrm rot="19449421">
            <a:off x="5429117" y="1985361"/>
            <a:ext cx="1032430" cy="12088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D83141F-9134-493F-DF18-1853A448FDD9}"/>
              </a:ext>
            </a:extLst>
          </p:cNvPr>
          <p:cNvSpPr/>
          <p:nvPr/>
        </p:nvSpPr>
        <p:spPr>
          <a:xfrm rot="19449421">
            <a:off x="6350177" y="1304332"/>
            <a:ext cx="1032430" cy="12088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6465630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5FEB7A6-627F-C9CE-DBF5-F163F149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4</a:t>
            </a:fld>
            <a:endParaRPr lang="es-CO" dirty="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956B79F5-E6EC-BC95-CF48-6CD205DD43F8}"/>
              </a:ext>
            </a:extLst>
          </p:cNvPr>
          <p:cNvGrpSpPr>
            <a:grpSpLocks/>
          </p:cNvGrpSpPr>
          <p:nvPr/>
        </p:nvGrpSpPr>
        <p:grpSpPr bwMode="auto">
          <a:xfrm>
            <a:off x="1296995" y="1058283"/>
            <a:ext cx="6818312" cy="2890260"/>
            <a:chOff x="25" y="935"/>
            <a:chExt cx="5713" cy="2994"/>
          </a:xfrm>
        </p:grpSpPr>
        <p:grpSp>
          <p:nvGrpSpPr>
            <p:cNvPr id="4" name="Group 18">
              <a:extLst>
                <a:ext uri="{FF2B5EF4-FFF2-40B4-BE49-F238E27FC236}">
                  <a16:creationId xmlns:a16="http://schemas.microsoft.com/office/drawing/2014/main" id="{6DE735C5-77ED-956E-9147-3AB5F2C55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" y="935"/>
              <a:ext cx="5713" cy="1656"/>
              <a:chOff x="25" y="935"/>
              <a:chExt cx="5713" cy="1656"/>
            </a:xfrm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9C978E97-0EBE-638B-64C2-7F95CCD44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244" y="1525"/>
                <a:ext cx="1656" cy="4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INFRAESTRUCTURA</a:t>
                </a:r>
                <a:endParaRPr lang="es-ES" altLang="es-CO" sz="1100"/>
              </a:p>
            </p:txBody>
          </p:sp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C8A8A5EE-6745-81BB-C304-CDABF61EA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720" y="1525"/>
                <a:ext cx="1656" cy="4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RED</a:t>
                </a:r>
                <a:endParaRPr lang="es-ES" altLang="es-CO" sz="1100"/>
              </a:p>
            </p:txBody>
          </p:sp>
          <p:sp>
            <p:nvSpPr>
              <p:cNvPr id="10" name="Rectangle 5">
                <a:extLst>
                  <a:ext uri="{FF2B5EF4-FFF2-40B4-BE49-F238E27FC236}">
                    <a16:creationId xmlns:a16="http://schemas.microsoft.com/office/drawing/2014/main" id="{13EE92EC-4944-C39E-D588-C2422933C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196" y="1525"/>
                <a:ext cx="1656" cy="4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SERVICIOS</a:t>
                </a:r>
                <a:endParaRPr lang="es-ES" altLang="es-CO" sz="1100"/>
              </a:p>
            </p:txBody>
          </p:sp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26F26249-7F64-0A07-A7D7-10491E74D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672" y="1525"/>
                <a:ext cx="1656" cy="4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EQUIPO TERMINAL</a:t>
                </a:r>
                <a:endParaRPr lang="es-ES" altLang="es-CO" sz="1100"/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703E56DA-F033-E9CA-0D6F-D7AE79DCB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340" y="1525"/>
                <a:ext cx="1656" cy="476"/>
              </a:xfrm>
              <a:prstGeom prst="rect">
                <a:avLst/>
              </a:prstGeom>
              <a:solidFill>
                <a:srgbClr val="EFE7A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APLICATIVOS</a:t>
                </a:r>
                <a:endParaRPr lang="es-ES" altLang="es-CO" sz="110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A99EBEB7-DA18-00A5-25C1-C1B496A7E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816" y="1525"/>
                <a:ext cx="1656" cy="476"/>
              </a:xfrm>
              <a:prstGeom prst="rect">
                <a:avLst/>
              </a:prstGeom>
              <a:solidFill>
                <a:srgbClr val="EFE7A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SOFTWARE, DB Y OS</a:t>
                </a:r>
                <a:endParaRPr lang="es-ES" altLang="es-CO" sz="1100"/>
              </a:p>
            </p:txBody>
          </p:sp>
          <p:sp>
            <p:nvSpPr>
              <p:cNvPr id="14" name="Rectangle 9">
                <a:extLst>
                  <a:ext uri="{FF2B5EF4-FFF2-40B4-BE49-F238E27FC236}">
                    <a16:creationId xmlns:a16="http://schemas.microsoft.com/office/drawing/2014/main" id="{1991A562-E8AE-3D94-EAA3-A80B33F6B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92" y="1525"/>
                <a:ext cx="1656" cy="476"/>
              </a:xfrm>
              <a:prstGeom prst="rect">
                <a:avLst/>
              </a:prstGeom>
              <a:solidFill>
                <a:srgbClr val="EFE7A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HARDWARE</a:t>
                </a:r>
                <a:endParaRPr lang="es-ES" altLang="es-CO" sz="1100"/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34D2F388-56E4-F018-8458-ADCA73F10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768" y="1525"/>
                <a:ext cx="1656" cy="476"/>
              </a:xfrm>
              <a:prstGeom prst="rect">
                <a:avLst/>
              </a:prstGeom>
              <a:solidFill>
                <a:srgbClr val="EFE7A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PROVEEDOR DE</a:t>
                </a:r>
              </a:p>
              <a:p>
                <a:pPr algn="ctr"/>
                <a:r>
                  <a:rPr lang="es-MX" altLang="es-CO" sz="1100"/>
                  <a:t>HOSTING</a:t>
                </a:r>
                <a:endParaRPr lang="es-ES" altLang="es-CO" sz="1100"/>
              </a:p>
            </p:txBody>
          </p:sp>
          <p:sp>
            <p:nvSpPr>
              <p:cNvPr id="16" name="Rectangle 11">
                <a:extLst>
                  <a:ext uri="{FF2B5EF4-FFF2-40B4-BE49-F238E27FC236}">
                    <a16:creationId xmlns:a16="http://schemas.microsoft.com/office/drawing/2014/main" id="{7A459332-7273-94EA-BAFE-F502F47EC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-565" y="1525"/>
                <a:ext cx="1656" cy="476"/>
              </a:xfrm>
              <a:prstGeom prst="rect">
                <a:avLst/>
              </a:prstGeom>
              <a:solidFill>
                <a:srgbClr val="E1BDD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AUTOR</a:t>
                </a:r>
                <a:endParaRPr lang="es-ES" altLang="es-CO" sz="1100"/>
              </a:p>
            </p:txBody>
          </p:sp>
          <p:sp>
            <p:nvSpPr>
              <p:cNvPr id="17" name="Rectangle 12">
                <a:extLst>
                  <a:ext uri="{FF2B5EF4-FFF2-40B4-BE49-F238E27FC236}">
                    <a16:creationId xmlns:a16="http://schemas.microsoft.com/office/drawing/2014/main" id="{83F6FC85-6AFF-FD2E-088F-D57B26689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-89" y="1525"/>
                <a:ext cx="1656" cy="476"/>
              </a:xfrm>
              <a:prstGeom prst="rect">
                <a:avLst/>
              </a:prstGeom>
              <a:solidFill>
                <a:srgbClr val="E1BDD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DESARROLLADOR</a:t>
                </a:r>
              </a:p>
              <a:p>
                <a:pPr algn="ctr"/>
                <a:r>
                  <a:rPr lang="es-MX" altLang="es-CO" sz="1100"/>
                  <a:t>DE FORMATOS</a:t>
                </a:r>
                <a:endParaRPr lang="es-ES" altLang="es-CO" sz="1100"/>
              </a:p>
            </p:txBody>
          </p:sp>
          <p:sp>
            <p:nvSpPr>
              <p:cNvPr id="18" name="Rectangle 13">
                <a:extLst>
                  <a:ext uri="{FF2B5EF4-FFF2-40B4-BE49-F238E27FC236}">
                    <a16:creationId xmlns:a16="http://schemas.microsoft.com/office/drawing/2014/main" id="{628A39D0-1254-B337-C2EC-589571B90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87" y="1525"/>
                <a:ext cx="1656" cy="476"/>
              </a:xfrm>
              <a:prstGeom prst="rect">
                <a:avLst/>
              </a:prstGeom>
              <a:solidFill>
                <a:srgbClr val="E1BDD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COMERCIALIZADOR</a:t>
                </a:r>
              </a:p>
              <a:p>
                <a:pPr algn="ctr"/>
                <a:r>
                  <a:rPr lang="es-MX" altLang="es-CO" sz="1100"/>
                  <a:t>DE CONTENIDO</a:t>
                </a:r>
                <a:endParaRPr lang="es-ES" altLang="es-CO" sz="1100"/>
              </a:p>
            </p:txBody>
          </p:sp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8058209-8F3A-90F6-E327-C7776012F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863" y="1525"/>
                <a:ext cx="1656" cy="476"/>
              </a:xfrm>
              <a:prstGeom prst="rect">
                <a:avLst/>
              </a:prstGeom>
              <a:solidFill>
                <a:srgbClr val="E1BDDE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s-MX" altLang="es-CO" sz="1100"/>
                  <a:t>EMPAQUETADOR </a:t>
                </a:r>
              </a:p>
              <a:p>
                <a:pPr algn="ctr"/>
                <a:r>
                  <a:rPr lang="es-MX" altLang="es-CO" sz="1100"/>
                  <a:t>DE CONTENIDO</a:t>
                </a:r>
                <a:endParaRPr lang="es-ES" altLang="es-CO" sz="1100"/>
              </a:p>
            </p:txBody>
          </p:sp>
        </p:grpSp>
        <p:sp>
          <p:nvSpPr>
            <p:cNvPr id="5" name="AutoShape 15">
              <a:extLst>
                <a:ext uri="{FF2B5EF4-FFF2-40B4-BE49-F238E27FC236}">
                  <a16:creationId xmlns:a16="http://schemas.microsoft.com/office/drawing/2014/main" id="{464528C3-E9CA-9DF3-8493-3A5E5FD5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840"/>
              <a:ext cx="1497" cy="273"/>
            </a:xfrm>
            <a:prstGeom prst="curvedRightArrow">
              <a:avLst>
                <a:gd name="adj1" fmla="val 20000"/>
                <a:gd name="adj2" fmla="val 40000"/>
                <a:gd name="adj3" fmla="val 18278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s-MX" altLang="es-CO" sz="900"/>
                <a:t>SERV. TELECOMUNICACIONES </a:t>
              </a:r>
            </a:p>
          </p:txBody>
        </p:sp>
        <p:sp>
          <p:nvSpPr>
            <p:cNvPr id="6" name="AutoShape 16">
              <a:extLst>
                <a:ext uri="{FF2B5EF4-FFF2-40B4-BE49-F238E27FC236}">
                  <a16:creationId xmlns:a16="http://schemas.microsoft.com/office/drawing/2014/main" id="{A13344AC-3D87-90EF-9552-7BDF71291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202"/>
              <a:ext cx="3402" cy="273"/>
            </a:xfrm>
            <a:prstGeom prst="curvedRightArrow">
              <a:avLst>
                <a:gd name="adj1" fmla="val 20000"/>
                <a:gd name="adj2" fmla="val 40000"/>
                <a:gd name="adj3" fmla="val 415385"/>
              </a:avLst>
            </a:prstGeom>
            <a:solidFill>
              <a:srgbClr val="EFE7A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s-MX" altLang="es-CO" sz="1000"/>
                <a:t>SERVICIOS DE ACCESO A APLICACIONES</a:t>
              </a:r>
              <a:endParaRPr lang="es-ES" altLang="es-CO" sz="1000"/>
            </a:p>
          </p:txBody>
        </p:sp>
        <p:sp>
          <p:nvSpPr>
            <p:cNvPr id="7" name="AutoShape 17">
              <a:extLst>
                <a:ext uri="{FF2B5EF4-FFF2-40B4-BE49-F238E27FC236}">
                  <a16:creationId xmlns:a16="http://schemas.microsoft.com/office/drawing/2014/main" id="{32CFF598-987C-D305-677B-BBC19D368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3656"/>
              <a:ext cx="5398" cy="273"/>
            </a:xfrm>
            <a:prstGeom prst="curvedRightArrow">
              <a:avLst>
                <a:gd name="adj1" fmla="val 20000"/>
                <a:gd name="adj2" fmla="val 40000"/>
                <a:gd name="adj3" fmla="val 659096"/>
              </a:avLst>
            </a:prstGeom>
            <a:solidFill>
              <a:srgbClr val="E1BD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s-MX" altLang="es-CO" sz="1100"/>
                <a:t>SERVICIOS DE ACCESO A CONTENIDOS</a:t>
              </a:r>
              <a:endParaRPr lang="es-ES" altLang="es-CO" sz="1100"/>
            </a:p>
          </p:txBody>
        </p:sp>
      </p:grpSp>
    </p:spTree>
    <p:extLst>
      <p:ext uri="{BB962C8B-B14F-4D97-AF65-F5344CB8AC3E}">
        <p14:creationId xmlns:p14="http://schemas.microsoft.com/office/powerpoint/2010/main" val="3819475662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9A185C6-7A85-8D8D-A086-494205F4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5</a:t>
            </a:fld>
            <a:endParaRPr lang="es-CO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BFF8AE5-141F-F224-C583-37FD71219981}"/>
              </a:ext>
            </a:extLst>
          </p:cNvPr>
          <p:cNvSpPr/>
          <p:nvPr/>
        </p:nvSpPr>
        <p:spPr>
          <a:xfrm>
            <a:off x="1961321" y="1510745"/>
            <a:ext cx="1563756" cy="4903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tx1"/>
                </a:solidFill>
              </a:rPr>
              <a:t>Motivación (22.19%)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6FF89DD-D22B-F422-1A24-F98D37BFDE42}"/>
              </a:ext>
            </a:extLst>
          </p:cNvPr>
          <p:cNvSpPr/>
          <p:nvPr/>
        </p:nvSpPr>
        <p:spPr>
          <a:xfrm>
            <a:off x="1961322" y="3435624"/>
            <a:ext cx="1563756" cy="4903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tx1"/>
                </a:solidFill>
              </a:rPr>
              <a:t>Habilidades Digitales (25.33%)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14963D4-22A6-FB29-146D-DFB7BEB5D25D}"/>
              </a:ext>
            </a:extLst>
          </p:cNvPr>
          <p:cNvSpPr/>
          <p:nvPr/>
        </p:nvSpPr>
        <p:spPr>
          <a:xfrm>
            <a:off x="5088833" y="1514055"/>
            <a:ext cx="1563756" cy="490330"/>
          </a:xfrm>
          <a:prstGeom prst="roundRect">
            <a:avLst/>
          </a:prstGeom>
          <a:solidFill>
            <a:srgbClr val="F8AB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tx1"/>
                </a:solidFill>
              </a:rPr>
              <a:t>Acceso Material (26.37%)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809A766-7264-CE23-C3B6-BD861DACC037}"/>
              </a:ext>
            </a:extLst>
          </p:cNvPr>
          <p:cNvSpPr/>
          <p:nvPr/>
        </p:nvSpPr>
        <p:spPr>
          <a:xfrm>
            <a:off x="5088834" y="3438934"/>
            <a:ext cx="1563756" cy="4903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00" dirty="0">
                <a:solidFill>
                  <a:schemeClr val="tx1"/>
                </a:solidFill>
              </a:rPr>
              <a:t>Aprovechamiento (26.10%)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6769C3A-8D2E-525D-263C-3BF29E0F744E}"/>
              </a:ext>
            </a:extLst>
          </p:cNvPr>
          <p:cNvSpPr/>
          <p:nvPr/>
        </p:nvSpPr>
        <p:spPr>
          <a:xfrm>
            <a:off x="165653" y="728870"/>
            <a:ext cx="1563756" cy="3379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Barreras mentales y psicológicas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079FCB8-4453-B133-0ECF-71B0447821F0}"/>
              </a:ext>
            </a:extLst>
          </p:cNvPr>
          <p:cNvSpPr/>
          <p:nvPr/>
        </p:nvSpPr>
        <p:spPr>
          <a:xfrm>
            <a:off x="165653" y="1152940"/>
            <a:ext cx="1563756" cy="3379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Utilidad percibida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FEA1D51-C4B3-9F43-735F-0EA829970513}"/>
              </a:ext>
            </a:extLst>
          </p:cNvPr>
          <p:cNvSpPr/>
          <p:nvPr/>
        </p:nvSpPr>
        <p:spPr>
          <a:xfrm>
            <a:off x="165653" y="1577010"/>
            <a:ext cx="1563756" cy="3379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Percepción social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E833485-C9EF-AF2F-5F1B-9087976F7619}"/>
              </a:ext>
            </a:extLst>
          </p:cNvPr>
          <p:cNvSpPr/>
          <p:nvPr/>
        </p:nvSpPr>
        <p:spPr>
          <a:xfrm>
            <a:off x="165653" y="2001080"/>
            <a:ext cx="1563756" cy="3379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Desconocimiento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3E82C59-4E73-FE8A-9C71-DFD795C78573}"/>
              </a:ext>
            </a:extLst>
          </p:cNvPr>
          <p:cNvSpPr/>
          <p:nvPr/>
        </p:nvSpPr>
        <p:spPr>
          <a:xfrm>
            <a:off x="165653" y="2425150"/>
            <a:ext cx="1563756" cy="33793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Condición socioeconómica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AC4B5E7-B2BD-015F-7FB8-7F516121A34A}"/>
              </a:ext>
            </a:extLst>
          </p:cNvPr>
          <p:cNvSpPr/>
          <p:nvPr/>
        </p:nvSpPr>
        <p:spPr>
          <a:xfrm>
            <a:off x="6894447" y="961610"/>
            <a:ext cx="1563756" cy="337930"/>
          </a:xfrm>
          <a:prstGeom prst="roundRect">
            <a:avLst/>
          </a:prstGeom>
          <a:solidFill>
            <a:srgbClr val="F8AB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Acceso a canales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DA2EDFF-4D78-A9FC-728C-DE05F91AFD8A}"/>
              </a:ext>
            </a:extLst>
          </p:cNvPr>
          <p:cNvSpPr/>
          <p:nvPr/>
        </p:nvSpPr>
        <p:spPr>
          <a:xfrm>
            <a:off x="6894447" y="1385680"/>
            <a:ext cx="1563756" cy="337930"/>
          </a:xfrm>
          <a:prstGeom prst="roundRect">
            <a:avLst/>
          </a:prstGeom>
          <a:solidFill>
            <a:srgbClr val="F8AB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Acceso a terminales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DE8406D-2617-2F28-5D83-244D6D998630}"/>
              </a:ext>
            </a:extLst>
          </p:cNvPr>
          <p:cNvSpPr/>
          <p:nvPr/>
        </p:nvSpPr>
        <p:spPr>
          <a:xfrm>
            <a:off x="6894447" y="1809750"/>
            <a:ext cx="1563756" cy="337930"/>
          </a:xfrm>
          <a:prstGeom prst="roundRect">
            <a:avLst/>
          </a:prstGeom>
          <a:solidFill>
            <a:srgbClr val="F8AB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Características de servicios / terminales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1F623E2-654A-823B-8FEF-7DC8B58BF537}"/>
              </a:ext>
            </a:extLst>
          </p:cNvPr>
          <p:cNvSpPr/>
          <p:nvPr/>
        </p:nvSpPr>
        <p:spPr>
          <a:xfrm>
            <a:off x="6894447" y="2233820"/>
            <a:ext cx="1563756" cy="337930"/>
          </a:xfrm>
          <a:prstGeom prst="roundRect">
            <a:avLst/>
          </a:prstGeom>
          <a:solidFill>
            <a:srgbClr val="F8AB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Características del sitio de acceso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B05DAF6-463F-977C-3C6D-FF78BB2F8993}"/>
              </a:ext>
            </a:extLst>
          </p:cNvPr>
          <p:cNvSpPr/>
          <p:nvPr/>
        </p:nvSpPr>
        <p:spPr>
          <a:xfrm>
            <a:off x="165653" y="3087753"/>
            <a:ext cx="1563756" cy="3379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Herramientas básicas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086607D-B7E1-C92D-C8EE-B295334E6990}"/>
              </a:ext>
            </a:extLst>
          </p:cNvPr>
          <p:cNvSpPr/>
          <p:nvPr/>
        </p:nvSpPr>
        <p:spPr>
          <a:xfrm>
            <a:off x="165653" y="3511823"/>
            <a:ext cx="1563756" cy="3379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Herramientas intermedias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4F7F9DE-860B-781D-8613-E364BAA65617}"/>
              </a:ext>
            </a:extLst>
          </p:cNvPr>
          <p:cNvSpPr/>
          <p:nvPr/>
        </p:nvSpPr>
        <p:spPr>
          <a:xfrm>
            <a:off x="165653" y="3935893"/>
            <a:ext cx="1563756" cy="3379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Herramientas avanzadas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E6A9544-D841-4856-638F-DF5594B574BE}"/>
              </a:ext>
            </a:extLst>
          </p:cNvPr>
          <p:cNvSpPr/>
          <p:nvPr/>
        </p:nvSpPr>
        <p:spPr>
          <a:xfrm>
            <a:off x="6894447" y="3087753"/>
            <a:ext cx="1563756" cy="3379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Frecuencia de uso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A9505C3-31A1-D5D2-C181-44E179EAABF1}"/>
              </a:ext>
            </a:extLst>
          </p:cNvPr>
          <p:cNvSpPr/>
          <p:nvPr/>
        </p:nvSpPr>
        <p:spPr>
          <a:xfrm>
            <a:off x="6894447" y="3511823"/>
            <a:ext cx="1563756" cy="3379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Intensidad de uso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7E41776-1DEB-3C23-650F-4AC6B0C64234}"/>
              </a:ext>
            </a:extLst>
          </p:cNvPr>
          <p:cNvSpPr/>
          <p:nvPr/>
        </p:nvSpPr>
        <p:spPr>
          <a:xfrm>
            <a:off x="6894447" y="3935893"/>
            <a:ext cx="1563756" cy="3379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50" dirty="0">
                <a:solidFill>
                  <a:schemeClr val="tx1"/>
                </a:solidFill>
              </a:rPr>
              <a:t>Diversidad de propósito</a:t>
            </a:r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FE5CE502-81D6-660C-B842-FE92510DF0C6}"/>
              </a:ext>
            </a:extLst>
          </p:cNvPr>
          <p:cNvCxnSpPr>
            <a:stCxn id="7" idx="3"/>
            <a:endCxn id="3" idx="1"/>
          </p:cNvCxnSpPr>
          <p:nvPr/>
        </p:nvCxnSpPr>
        <p:spPr>
          <a:xfrm>
            <a:off x="1729409" y="897835"/>
            <a:ext cx="231912" cy="8580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33C2D64A-AB21-BD8F-3567-38E78E4AC8F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1729409" y="1321905"/>
            <a:ext cx="231912" cy="4340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3D1C7E26-39F2-9733-6024-5EF71A361F4B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 flipV="1">
            <a:off x="1729409" y="1755910"/>
            <a:ext cx="231912" cy="8382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162144B6-91D5-9E67-90E6-110B0236495A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 flipV="1">
            <a:off x="1729409" y="1755910"/>
            <a:ext cx="231912" cy="414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F2495A3F-FF17-00EB-070D-427EAE1E027B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1729409" y="1745975"/>
            <a:ext cx="231912" cy="99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29FD8C37-E29E-8161-79F5-124620BCE672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 flipV="1">
            <a:off x="1729409" y="3680789"/>
            <a:ext cx="231913" cy="4240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F5622C07-7ADA-1C06-84C9-ED5A9C81A1E8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1729409" y="3680788"/>
            <a:ext cx="23191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C767DB45-A568-9EA9-3BE6-B3880D9214E4}"/>
              </a:ext>
            </a:extLst>
          </p:cNvPr>
          <p:cNvCxnSpPr>
            <a:cxnSpLocks/>
            <a:stCxn id="14" idx="1"/>
            <a:endCxn id="5" idx="3"/>
          </p:cNvCxnSpPr>
          <p:nvPr/>
        </p:nvCxnSpPr>
        <p:spPr>
          <a:xfrm rot="10800000">
            <a:off x="6652589" y="1759221"/>
            <a:ext cx="241858" cy="219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80717836-9D4B-D058-7F33-CA278D392E1C}"/>
              </a:ext>
            </a:extLst>
          </p:cNvPr>
          <p:cNvCxnSpPr>
            <a:cxnSpLocks/>
            <a:stCxn id="20" idx="1"/>
            <a:endCxn id="6" idx="3"/>
          </p:cNvCxnSpPr>
          <p:nvPr/>
        </p:nvCxnSpPr>
        <p:spPr>
          <a:xfrm rot="10800000" flipV="1">
            <a:off x="6652591" y="3680787"/>
            <a:ext cx="241857" cy="33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546294E0-D59F-D5A0-148D-834DC6B062CE}"/>
              </a:ext>
            </a:extLst>
          </p:cNvPr>
          <p:cNvCxnSpPr>
            <a:cxnSpLocks/>
            <a:stCxn id="19" idx="1"/>
            <a:endCxn id="6" idx="3"/>
          </p:cNvCxnSpPr>
          <p:nvPr/>
        </p:nvCxnSpPr>
        <p:spPr>
          <a:xfrm rot="10800000" flipV="1">
            <a:off x="6652591" y="3256717"/>
            <a:ext cx="241857" cy="4273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90E208F3-4D1C-8711-8CC3-EA12B35F8B73}"/>
              </a:ext>
            </a:extLst>
          </p:cNvPr>
          <p:cNvCxnSpPr>
            <a:cxnSpLocks/>
            <a:stCxn id="15" idx="1"/>
            <a:endCxn id="5" idx="3"/>
          </p:cNvCxnSpPr>
          <p:nvPr/>
        </p:nvCxnSpPr>
        <p:spPr>
          <a:xfrm rot="10800000">
            <a:off x="6652589" y="1759221"/>
            <a:ext cx="241858" cy="6435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D6DBFA3F-F2C3-F6BD-4262-FA5988B7968B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1729409" y="3256718"/>
            <a:ext cx="231913" cy="4240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5C260EE5-3A69-1E5E-71B9-4EF851747CFD}"/>
              </a:ext>
            </a:extLst>
          </p:cNvPr>
          <p:cNvCxnSpPr>
            <a:cxnSpLocks/>
            <a:stCxn id="13" idx="1"/>
            <a:endCxn id="5" idx="3"/>
          </p:cNvCxnSpPr>
          <p:nvPr/>
        </p:nvCxnSpPr>
        <p:spPr>
          <a:xfrm rot="10800000" flipV="1">
            <a:off x="6652589" y="1554644"/>
            <a:ext cx="241858" cy="2045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A4315BF5-7EC2-A437-743F-63926BB3C852}"/>
              </a:ext>
            </a:extLst>
          </p:cNvPr>
          <p:cNvCxnSpPr>
            <a:cxnSpLocks/>
            <a:stCxn id="12" idx="1"/>
            <a:endCxn id="5" idx="3"/>
          </p:cNvCxnSpPr>
          <p:nvPr/>
        </p:nvCxnSpPr>
        <p:spPr>
          <a:xfrm rot="10800000" flipV="1">
            <a:off x="6652589" y="1130574"/>
            <a:ext cx="241858" cy="6286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8204BE9A-BB83-1FFA-6391-BCF071FACEFE}"/>
              </a:ext>
            </a:extLst>
          </p:cNvPr>
          <p:cNvCxnSpPr>
            <a:cxnSpLocks/>
            <a:stCxn id="21" idx="1"/>
            <a:endCxn id="6" idx="3"/>
          </p:cNvCxnSpPr>
          <p:nvPr/>
        </p:nvCxnSpPr>
        <p:spPr>
          <a:xfrm rot="10800000">
            <a:off x="6652591" y="3684100"/>
            <a:ext cx="241857" cy="4207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E381A963-E8CA-C3D9-4364-B99841E1D3A3}"/>
              </a:ext>
            </a:extLst>
          </p:cNvPr>
          <p:cNvSpPr/>
          <p:nvPr/>
        </p:nvSpPr>
        <p:spPr>
          <a:xfrm>
            <a:off x="3766931" y="2213942"/>
            <a:ext cx="1103244" cy="10957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/>
              <a:t>IBD</a:t>
            </a:r>
          </a:p>
        </p:txBody>
      </p: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63551A8D-3820-F9CC-12B0-E63DA676D921}"/>
              </a:ext>
            </a:extLst>
          </p:cNvPr>
          <p:cNvCxnSpPr>
            <a:stCxn id="3" idx="3"/>
            <a:endCxn id="67" idx="1"/>
          </p:cNvCxnSpPr>
          <p:nvPr/>
        </p:nvCxnSpPr>
        <p:spPr>
          <a:xfrm>
            <a:off x="3525077" y="1755910"/>
            <a:ext cx="403420" cy="6185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C74FBE1C-3E4F-52C2-2EFC-009CFD1B0A71}"/>
              </a:ext>
            </a:extLst>
          </p:cNvPr>
          <p:cNvCxnSpPr>
            <a:cxnSpLocks/>
            <a:stCxn id="6" idx="1"/>
            <a:endCxn id="67" idx="5"/>
          </p:cNvCxnSpPr>
          <p:nvPr/>
        </p:nvCxnSpPr>
        <p:spPr>
          <a:xfrm rot="10800000">
            <a:off x="4708610" y="3149257"/>
            <a:ext cx="380225" cy="5348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65A90846-30C9-0F0F-7C67-4DAE691FBC43}"/>
              </a:ext>
            </a:extLst>
          </p:cNvPr>
          <p:cNvCxnSpPr>
            <a:cxnSpLocks/>
            <a:stCxn id="4" idx="3"/>
            <a:endCxn id="67" idx="3"/>
          </p:cNvCxnSpPr>
          <p:nvPr/>
        </p:nvCxnSpPr>
        <p:spPr>
          <a:xfrm flipV="1">
            <a:off x="3525078" y="3149256"/>
            <a:ext cx="403419" cy="5315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950D0832-62DE-9AF3-525E-EAE66C1ACD2C}"/>
              </a:ext>
            </a:extLst>
          </p:cNvPr>
          <p:cNvCxnSpPr>
            <a:cxnSpLocks/>
            <a:stCxn id="5" idx="1"/>
            <a:endCxn id="67" idx="7"/>
          </p:cNvCxnSpPr>
          <p:nvPr/>
        </p:nvCxnSpPr>
        <p:spPr>
          <a:xfrm rot="10800000" flipV="1">
            <a:off x="4708609" y="1759219"/>
            <a:ext cx="380224" cy="6151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518155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2501D03-0ECF-43F3-3C79-E71C4F58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6</a:t>
            </a:fld>
            <a:endParaRPr lang="es-CO" dirty="0"/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9EEAF7B1-B800-C016-9B59-E774E841BE4B}"/>
              </a:ext>
            </a:extLst>
          </p:cNvPr>
          <p:cNvSpPr/>
          <p:nvPr/>
        </p:nvSpPr>
        <p:spPr>
          <a:xfrm>
            <a:off x="7311589" y="746338"/>
            <a:ext cx="457200" cy="26835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594CE57C-872A-5D14-5F5F-9BFA2085807E}"/>
              </a:ext>
            </a:extLst>
          </p:cNvPr>
          <p:cNvSpPr/>
          <p:nvPr/>
        </p:nvSpPr>
        <p:spPr>
          <a:xfrm>
            <a:off x="7311589" y="1097518"/>
            <a:ext cx="457200" cy="26835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87EAF476-102B-6442-5BA7-C9F5B7B8CF2D}"/>
              </a:ext>
            </a:extLst>
          </p:cNvPr>
          <p:cNvSpPr/>
          <p:nvPr/>
        </p:nvSpPr>
        <p:spPr>
          <a:xfrm>
            <a:off x="7311589" y="1452918"/>
            <a:ext cx="457200" cy="26835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6EFF8A8-FA9B-4AF9-48E3-C4D9C993813A}"/>
              </a:ext>
            </a:extLst>
          </p:cNvPr>
          <p:cNvSpPr/>
          <p:nvPr/>
        </p:nvSpPr>
        <p:spPr>
          <a:xfrm>
            <a:off x="7311589" y="1791696"/>
            <a:ext cx="457200" cy="26835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9CE069AD-63DD-D7FD-B4BD-513B30EFBD4E}"/>
              </a:ext>
            </a:extLst>
          </p:cNvPr>
          <p:cNvSpPr/>
          <p:nvPr/>
        </p:nvSpPr>
        <p:spPr>
          <a:xfrm>
            <a:off x="7311589" y="2142876"/>
            <a:ext cx="457200" cy="26835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1FF076E4-1327-4A33-5DE2-B9ECE1FC4DEA}"/>
              </a:ext>
            </a:extLst>
          </p:cNvPr>
          <p:cNvSpPr/>
          <p:nvPr/>
        </p:nvSpPr>
        <p:spPr>
          <a:xfrm>
            <a:off x="7311589" y="2498276"/>
            <a:ext cx="457200" cy="26835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07A55C-B485-B957-6330-2ECD87EFFCEA}"/>
              </a:ext>
            </a:extLst>
          </p:cNvPr>
          <p:cNvSpPr/>
          <p:nvPr/>
        </p:nvSpPr>
        <p:spPr>
          <a:xfrm>
            <a:off x="3355816" y="812990"/>
            <a:ext cx="3955774" cy="12870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4000">
                <a:schemeClr val="bg1">
                  <a:lumMod val="95000"/>
                </a:schemeClr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F8AEF2-C5C1-D116-BF2F-24F2C626D930}"/>
              </a:ext>
            </a:extLst>
          </p:cNvPr>
          <p:cNvSpPr/>
          <p:nvPr/>
        </p:nvSpPr>
        <p:spPr>
          <a:xfrm>
            <a:off x="4200641" y="1166147"/>
            <a:ext cx="3110948" cy="11193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4000">
                <a:schemeClr val="accent1">
                  <a:lumMod val="20000"/>
                  <a:lumOff val="80000"/>
                </a:schemeClr>
              </a:gs>
              <a:gs pos="3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3EEDF2-B066-C90C-FAE0-2CDFDCFF793C}"/>
              </a:ext>
            </a:extLst>
          </p:cNvPr>
          <p:cNvSpPr/>
          <p:nvPr/>
        </p:nvSpPr>
        <p:spPr>
          <a:xfrm>
            <a:off x="4816867" y="1521392"/>
            <a:ext cx="2494722" cy="14115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4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1D6CC45-9E1E-A212-A395-72C574C60116}"/>
              </a:ext>
            </a:extLst>
          </p:cNvPr>
          <p:cNvSpPr/>
          <p:nvPr/>
        </p:nvSpPr>
        <p:spPr>
          <a:xfrm>
            <a:off x="5433093" y="1864219"/>
            <a:ext cx="1878496" cy="1191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2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2A3BE4-DBA1-FA24-8131-A852262EFD69}"/>
              </a:ext>
            </a:extLst>
          </p:cNvPr>
          <p:cNvSpPr/>
          <p:nvPr/>
        </p:nvSpPr>
        <p:spPr>
          <a:xfrm>
            <a:off x="6089076" y="2217935"/>
            <a:ext cx="1227188" cy="1191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4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560832E-BF78-F24A-60A4-A3B97AD3E4A2}"/>
              </a:ext>
            </a:extLst>
          </p:cNvPr>
          <p:cNvSpPr/>
          <p:nvPr/>
        </p:nvSpPr>
        <p:spPr>
          <a:xfrm>
            <a:off x="6707187" y="2571092"/>
            <a:ext cx="609077" cy="1191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4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4C1C338-A5D3-DFF6-5260-048370D98D8B}"/>
              </a:ext>
            </a:extLst>
          </p:cNvPr>
          <p:cNvSpPr/>
          <p:nvPr/>
        </p:nvSpPr>
        <p:spPr>
          <a:xfrm>
            <a:off x="3372903" y="4384055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&lt;70s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8DF4A08-BCBE-0313-6EA2-EF3FE6FB9992}"/>
              </a:ext>
            </a:extLst>
          </p:cNvPr>
          <p:cNvSpPr/>
          <p:nvPr/>
        </p:nvSpPr>
        <p:spPr>
          <a:xfrm>
            <a:off x="3985816" y="4380353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70s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6DAF52-54F6-9287-C6CC-B3CC9312E3B3}"/>
              </a:ext>
            </a:extLst>
          </p:cNvPr>
          <p:cNvSpPr/>
          <p:nvPr/>
        </p:nvSpPr>
        <p:spPr>
          <a:xfrm>
            <a:off x="4598729" y="4379964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80s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B595C22-F20D-5C47-276B-417823F1FA95}"/>
              </a:ext>
            </a:extLst>
          </p:cNvPr>
          <p:cNvSpPr/>
          <p:nvPr/>
        </p:nvSpPr>
        <p:spPr>
          <a:xfrm>
            <a:off x="5203098" y="4384053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90s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4A730A8-50F0-A929-87AD-BD82100C0FF7}"/>
              </a:ext>
            </a:extLst>
          </p:cNvPr>
          <p:cNvSpPr/>
          <p:nvPr/>
        </p:nvSpPr>
        <p:spPr>
          <a:xfrm>
            <a:off x="5814616" y="4384054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2000s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D5128CB-256D-3D01-BF8F-C23E9ECAB5A7}"/>
              </a:ext>
            </a:extLst>
          </p:cNvPr>
          <p:cNvSpPr/>
          <p:nvPr/>
        </p:nvSpPr>
        <p:spPr>
          <a:xfrm>
            <a:off x="6423693" y="4384054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2010s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12089BB-A087-59B3-21BD-1B6F8A0CBBBF}"/>
              </a:ext>
            </a:extLst>
          </p:cNvPr>
          <p:cNvSpPr/>
          <p:nvPr/>
        </p:nvSpPr>
        <p:spPr>
          <a:xfrm>
            <a:off x="7034339" y="4384054"/>
            <a:ext cx="609077" cy="12085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&gt;2010s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8D920A1F-9AFD-77F0-AD65-33517E93EFCD}"/>
              </a:ext>
            </a:extLst>
          </p:cNvPr>
          <p:cNvSpPr/>
          <p:nvPr/>
        </p:nvSpPr>
        <p:spPr>
          <a:xfrm>
            <a:off x="7324843" y="2809700"/>
            <a:ext cx="457200" cy="268356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3E712BC2-079E-B26B-6DD3-8A2A6DBE42DC}"/>
              </a:ext>
            </a:extLst>
          </p:cNvPr>
          <p:cNvSpPr/>
          <p:nvPr/>
        </p:nvSpPr>
        <p:spPr>
          <a:xfrm>
            <a:off x="3385633" y="3380204"/>
            <a:ext cx="4244008" cy="936751"/>
          </a:xfrm>
          <a:custGeom>
            <a:avLst/>
            <a:gdLst>
              <a:gd name="connsiteX0" fmla="*/ 0 w 4244008"/>
              <a:gd name="connsiteY0" fmla="*/ 894522 h 936751"/>
              <a:gd name="connsiteX1" fmla="*/ 1759226 w 4244008"/>
              <a:gd name="connsiteY1" fmla="*/ 904461 h 936751"/>
              <a:gd name="connsiteX2" fmla="*/ 2305878 w 4244008"/>
              <a:gd name="connsiteY2" fmla="*/ 536714 h 936751"/>
              <a:gd name="connsiteX3" fmla="*/ 2753139 w 4244008"/>
              <a:gd name="connsiteY3" fmla="*/ 168966 h 936751"/>
              <a:gd name="connsiteX4" fmla="*/ 4244008 w 4244008"/>
              <a:gd name="connsiteY4" fmla="*/ 0 h 93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4008" h="936751">
                <a:moveTo>
                  <a:pt x="0" y="894522"/>
                </a:moveTo>
                <a:cubicBezTo>
                  <a:pt x="687456" y="929309"/>
                  <a:pt x="1374913" y="964096"/>
                  <a:pt x="1759226" y="904461"/>
                </a:cubicBezTo>
                <a:cubicBezTo>
                  <a:pt x="2143539" y="844826"/>
                  <a:pt x="2140226" y="659296"/>
                  <a:pt x="2305878" y="536714"/>
                </a:cubicBezTo>
                <a:cubicBezTo>
                  <a:pt x="2471530" y="414132"/>
                  <a:pt x="2430117" y="258418"/>
                  <a:pt x="2753139" y="168966"/>
                </a:cubicBezTo>
                <a:cubicBezTo>
                  <a:pt x="3076161" y="79514"/>
                  <a:pt x="3660084" y="39757"/>
                  <a:pt x="4244008" y="0"/>
                </a:cubicBezTo>
              </a:path>
            </a:pathLst>
          </a:cu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1DE5A6CF-20F7-30EC-12C2-A79BA2BF304E}"/>
              </a:ext>
            </a:extLst>
          </p:cNvPr>
          <p:cNvCxnSpPr/>
          <p:nvPr/>
        </p:nvCxnSpPr>
        <p:spPr>
          <a:xfrm flipV="1">
            <a:off x="5203098" y="3231117"/>
            <a:ext cx="0" cy="15107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37C056C-06F3-88AF-859C-18692153AE58}"/>
              </a:ext>
            </a:extLst>
          </p:cNvPr>
          <p:cNvSpPr txBox="1"/>
          <p:nvPr/>
        </p:nvSpPr>
        <p:spPr>
          <a:xfrm>
            <a:off x="3507654" y="3905584"/>
            <a:ext cx="1565399" cy="33046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chemeClr val="accent1"/>
                </a:solidFill>
              </a:rPr>
              <a:t>Evolución internet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1A5E8D5-235A-888B-41BD-976DF72F8322}"/>
              </a:ext>
            </a:extLst>
          </p:cNvPr>
          <p:cNvSpPr txBox="1"/>
          <p:nvPr/>
        </p:nvSpPr>
        <p:spPr>
          <a:xfrm>
            <a:off x="7818486" y="368650"/>
            <a:ext cx="1101835" cy="266368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chemeClr val="accent1"/>
                </a:solidFill>
              </a:rPr>
              <a:t>Rangos de edad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200" b="1" dirty="0">
              <a:solidFill>
                <a:schemeClr val="accent1"/>
              </a:solidFill>
            </a:endParaRP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60+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60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50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40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30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20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1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1" dirty="0"/>
              <a:t>10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43AC40-1D46-38F8-32CD-4287FA9F4C22}"/>
              </a:ext>
            </a:extLst>
          </p:cNvPr>
          <p:cNvSpPr/>
          <p:nvPr/>
        </p:nvSpPr>
        <p:spPr>
          <a:xfrm>
            <a:off x="3720770" y="805979"/>
            <a:ext cx="947002" cy="12085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A0CB67A-75DA-A902-3B92-1E8A1BDA5681}"/>
              </a:ext>
            </a:extLst>
          </p:cNvPr>
          <p:cNvSpPr/>
          <p:nvPr/>
        </p:nvSpPr>
        <p:spPr>
          <a:xfrm>
            <a:off x="4486091" y="1168554"/>
            <a:ext cx="947002" cy="12085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BAEFE64-C6B7-A19F-00F2-667C361ABC2B}"/>
              </a:ext>
            </a:extLst>
          </p:cNvPr>
          <p:cNvSpPr/>
          <p:nvPr/>
        </p:nvSpPr>
        <p:spPr>
          <a:xfrm>
            <a:off x="5142074" y="1519247"/>
            <a:ext cx="947002" cy="12085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8BDAEF3-42C1-5A34-CFF3-BFAFDCAEB976}"/>
              </a:ext>
            </a:extLst>
          </p:cNvPr>
          <p:cNvSpPr/>
          <p:nvPr/>
        </p:nvSpPr>
        <p:spPr>
          <a:xfrm>
            <a:off x="5645653" y="1846674"/>
            <a:ext cx="947002" cy="12085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BED68E6-0897-CC1D-B2A1-751A2322E634}"/>
              </a:ext>
            </a:extLst>
          </p:cNvPr>
          <p:cNvSpPr/>
          <p:nvPr/>
        </p:nvSpPr>
        <p:spPr>
          <a:xfrm>
            <a:off x="6346366" y="2207505"/>
            <a:ext cx="947002" cy="12085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39EB383-EDAB-4121-FE1E-26084F469179}"/>
              </a:ext>
            </a:extLst>
          </p:cNvPr>
          <p:cNvSpPr/>
          <p:nvPr/>
        </p:nvSpPr>
        <p:spPr>
          <a:xfrm>
            <a:off x="6892460" y="2569115"/>
            <a:ext cx="889583" cy="119171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C623E32-7CCD-B1AA-0A39-DE8681E04BDE}"/>
              </a:ext>
            </a:extLst>
          </p:cNvPr>
          <p:cNvSpPr/>
          <p:nvPr/>
        </p:nvSpPr>
        <p:spPr>
          <a:xfrm>
            <a:off x="7530250" y="2879470"/>
            <a:ext cx="251793" cy="145334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FA5FBE3-B66B-0D03-A254-238BD90FE25A}"/>
              </a:ext>
            </a:extLst>
          </p:cNvPr>
          <p:cNvSpPr/>
          <p:nvPr/>
        </p:nvSpPr>
        <p:spPr>
          <a:xfrm>
            <a:off x="1018308" y="2517163"/>
            <a:ext cx="1943100" cy="2683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7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5A4B736-AA72-4E2C-BA56-DAB0FE75C1F2}"/>
              </a:ext>
            </a:extLst>
          </p:cNvPr>
          <p:cNvSpPr txBox="1"/>
          <p:nvPr/>
        </p:nvSpPr>
        <p:spPr>
          <a:xfrm>
            <a:off x="1491816" y="154739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algn="ctr"/>
            <a:r>
              <a:rPr lang="es-CO" sz="1400" b="1" dirty="0">
                <a:solidFill>
                  <a:schemeClr val="accent1"/>
                </a:solidFill>
              </a:rPr>
              <a:t>Convenciones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400" b="1" dirty="0"/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/>
              <a:t>Nivel esperado de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/>
              <a:t>Alfabetización digital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/>
              <a:t>Muy bajo				Muy alto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D39AE60-66D7-BD5E-F1E9-BB73458320FB}"/>
              </a:ext>
            </a:extLst>
          </p:cNvPr>
          <p:cNvSpPr/>
          <p:nvPr/>
        </p:nvSpPr>
        <p:spPr>
          <a:xfrm>
            <a:off x="1017785" y="2989967"/>
            <a:ext cx="1943097" cy="174158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Proceso educativo básico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A43BE87-B52C-ED25-9AB9-C970367D07AD}"/>
              </a:ext>
            </a:extLst>
          </p:cNvPr>
          <p:cNvSpPr/>
          <p:nvPr/>
        </p:nvSpPr>
        <p:spPr>
          <a:xfrm>
            <a:off x="223679" y="1602375"/>
            <a:ext cx="3497090" cy="171187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0315988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52F82FB-115E-A950-8CBE-FEDDC7A3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425" y="3522320"/>
            <a:ext cx="293954" cy="273844"/>
          </a:xfrm>
        </p:spPr>
        <p:txBody>
          <a:bodyPr/>
          <a:lstStyle/>
          <a:p>
            <a:fld id="{00000000-1234-1234-1234-123412341234}" type="slidenum">
              <a:rPr lang="es-CO" smtClean="0"/>
              <a:pPr/>
              <a:t>7</a:t>
            </a:fld>
            <a:endParaRPr lang="es-CO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FAE5B2A-DB8D-CF8B-FBED-5930F69B8192}"/>
              </a:ext>
            </a:extLst>
          </p:cNvPr>
          <p:cNvSpPr txBox="1"/>
          <p:nvPr/>
        </p:nvSpPr>
        <p:spPr>
          <a:xfrm>
            <a:off x="5790097" y="1764055"/>
            <a:ext cx="3247578" cy="1648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b="1" dirty="0">
                <a:solidFill>
                  <a:schemeClr val="accent1"/>
                </a:solidFill>
              </a:rPr>
              <a:t>Convenciones</a:t>
            </a:r>
          </a:p>
          <a:p>
            <a:pPr lvl="1"/>
            <a:r>
              <a:rPr lang="es-CO" sz="1600" b="1" dirty="0"/>
              <a:t>Red de transporte</a:t>
            </a:r>
          </a:p>
          <a:p>
            <a:pPr lvl="1"/>
            <a:r>
              <a:rPr lang="es-CO" sz="1600" b="1" dirty="0"/>
              <a:t>Red de acceso</a:t>
            </a:r>
          </a:p>
          <a:p>
            <a:pPr lvl="1"/>
            <a:r>
              <a:rPr lang="es-CO" sz="1600" b="1" dirty="0"/>
              <a:t>Nodo red troncal</a:t>
            </a:r>
          </a:p>
          <a:p>
            <a:pPr lvl="1"/>
            <a:r>
              <a:rPr lang="es-CO" sz="1600" b="1" dirty="0"/>
              <a:t>Usuarios con capacidad de pago</a:t>
            </a:r>
          </a:p>
          <a:p>
            <a:pPr lvl="1"/>
            <a:r>
              <a:rPr lang="es-CO" sz="1600" b="1" dirty="0"/>
              <a:t>Usuarios sin capacidad de pago</a:t>
            </a:r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131BF9DC-D7A3-92B9-1C55-B80CEAD2BCD6}"/>
              </a:ext>
            </a:extLst>
          </p:cNvPr>
          <p:cNvCxnSpPr/>
          <p:nvPr/>
        </p:nvCxnSpPr>
        <p:spPr>
          <a:xfrm>
            <a:off x="5901070" y="2264738"/>
            <a:ext cx="372140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>
            <a:extLst>
              <a:ext uri="{FF2B5EF4-FFF2-40B4-BE49-F238E27FC236}">
                <a16:creationId xmlns:a16="http://schemas.microsoft.com/office/drawing/2014/main" id="{B487427A-BDF0-CBF6-237D-35F2C1BCB8BF}"/>
              </a:ext>
            </a:extLst>
          </p:cNvPr>
          <p:cNvSpPr/>
          <p:nvPr/>
        </p:nvSpPr>
        <p:spPr>
          <a:xfrm>
            <a:off x="5901070" y="2389576"/>
            <a:ext cx="372140" cy="191828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C601642-EA38-A07A-7E5D-8A64095B0945}"/>
              </a:ext>
            </a:extLst>
          </p:cNvPr>
          <p:cNvSpPr/>
          <p:nvPr/>
        </p:nvSpPr>
        <p:spPr>
          <a:xfrm>
            <a:off x="4458588" y="1865823"/>
            <a:ext cx="1049080" cy="1062660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93A3BA13-4B73-6C76-61C0-74565542EE20}"/>
              </a:ext>
            </a:extLst>
          </p:cNvPr>
          <p:cNvSpPr/>
          <p:nvPr/>
        </p:nvSpPr>
        <p:spPr>
          <a:xfrm>
            <a:off x="6007400" y="2655835"/>
            <a:ext cx="202019" cy="191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DAEECCBC-F2F0-5754-3622-A65BBC22FEC1}"/>
              </a:ext>
            </a:extLst>
          </p:cNvPr>
          <p:cNvSpPr/>
          <p:nvPr/>
        </p:nvSpPr>
        <p:spPr>
          <a:xfrm>
            <a:off x="4885667" y="3701701"/>
            <a:ext cx="202019" cy="191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94DC3C5A-1AA1-1D90-F3F1-6EC167DC1B4A}"/>
              </a:ext>
            </a:extLst>
          </p:cNvPr>
          <p:cNvCxnSpPr>
            <a:cxnSpLocks/>
            <a:stCxn id="63" idx="0"/>
            <a:endCxn id="61" idx="4"/>
          </p:cNvCxnSpPr>
          <p:nvPr/>
        </p:nvCxnSpPr>
        <p:spPr>
          <a:xfrm flipH="1" flipV="1">
            <a:off x="4983128" y="2928483"/>
            <a:ext cx="3549" cy="773218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ipse 66">
            <a:extLst>
              <a:ext uri="{FF2B5EF4-FFF2-40B4-BE49-F238E27FC236}">
                <a16:creationId xmlns:a16="http://schemas.microsoft.com/office/drawing/2014/main" id="{CAF5CE9D-C95B-209C-F5CE-505B2A983BF0}"/>
              </a:ext>
            </a:extLst>
          </p:cNvPr>
          <p:cNvSpPr/>
          <p:nvPr/>
        </p:nvSpPr>
        <p:spPr>
          <a:xfrm>
            <a:off x="6076510" y="2950686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577E69DE-51DA-6FA7-4BFE-EE81B10DDCB3}"/>
              </a:ext>
            </a:extLst>
          </p:cNvPr>
          <p:cNvSpPr/>
          <p:nvPr/>
        </p:nvSpPr>
        <p:spPr>
          <a:xfrm>
            <a:off x="4889208" y="1965394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3CA33C76-3FCF-5FAD-F8A3-38AB960C5B92}"/>
              </a:ext>
            </a:extLst>
          </p:cNvPr>
          <p:cNvSpPr/>
          <p:nvPr/>
        </p:nvSpPr>
        <p:spPr>
          <a:xfrm>
            <a:off x="4722808" y="2117794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DCF32CC0-E5F3-D1B3-DA68-35B09EB70127}"/>
              </a:ext>
            </a:extLst>
          </p:cNvPr>
          <p:cNvSpPr/>
          <p:nvPr/>
        </p:nvSpPr>
        <p:spPr>
          <a:xfrm>
            <a:off x="4577358" y="224747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A8661845-3E3F-9739-1409-102AC542EBB4}"/>
              </a:ext>
            </a:extLst>
          </p:cNvPr>
          <p:cNvSpPr/>
          <p:nvPr/>
        </p:nvSpPr>
        <p:spPr>
          <a:xfrm>
            <a:off x="5098141" y="201058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A0DE765F-7F3C-CFCB-DA8F-7958AD2F02CD}"/>
              </a:ext>
            </a:extLst>
          </p:cNvPr>
          <p:cNvSpPr/>
          <p:nvPr/>
        </p:nvSpPr>
        <p:spPr>
          <a:xfrm>
            <a:off x="4934927" y="2140783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04CAB2D9-28C2-46D6-D372-55084F805C8C}"/>
              </a:ext>
            </a:extLst>
          </p:cNvPr>
          <p:cNvSpPr/>
          <p:nvPr/>
        </p:nvSpPr>
        <p:spPr>
          <a:xfrm>
            <a:off x="4768527" y="2311865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B18188D6-358D-6497-DD44-0A617D6D70F6}"/>
              </a:ext>
            </a:extLst>
          </p:cNvPr>
          <p:cNvSpPr/>
          <p:nvPr/>
        </p:nvSpPr>
        <p:spPr>
          <a:xfrm>
            <a:off x="4633532" y="2459466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ECAA0FE7-AD04-6A1C-6592-6251A7C85ECF}"/>
              </a:ext>
            </a:extLst>
          </p:cNvPr>
          <p:cNvSpPr/>
          <p:nvPr/>
        </p:nvSpPr>
        <p:spPr>
          <a:xfrm>
            <a:off x="5232994" y="2714612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9BEEF616-43CE-299C-9668-DC3D4D1EA55E}"/>
              </a:ext>
            </a:extLst>
          </p:cNvPr>
          <p:cNvSpPr/>
          <p:nvPr/>
        </p:nvSpPr>
        <p:spPr>
          <a:xfrm>
            <a:off x="5278713" y="243836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DF9965BB-C126-6A0B-8C4C-73528CBA896C}"/>
              </a:ext>
            </a:extLst>
          </p:cNvPr>
          <p:cNvSpPr/>
          <p:nvPr/>
        </p:nvSpPr>
        <p:spPr>
          <a:xfrm>
            <a:off x="4957786" y="2689281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9356AC2-01A1-78BE-CA7D-901952A27774}"/>
              </a:ext>
            </a:extLst>
          </p:cNvPr>
          <p:cNvSpPr/>
          <p:nvPr/>
        </p:nvSpPr>
        <p:spPr>
          <a:xfrm>
            <a:off x="4996239" y="2395929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85288C5A-8D6A-816A-C0B1-FF8CC240E256}"/>
              </a:ext>
            </a:extLst>
          </p:cNvPr>
          <p:cNvSpPr/>
          <p:nvPr/>
        </p:nvSpPr>
        <p:spPr>
          <a:xfrm>
            <a:off x="5041608" y="2213489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02158256-DEF8-BF76-DDA2-E7913E4DE521}"/>
              </a:ext>
            </a:extLst>
          </p:cNvPr>
          <p:cNvSpPr/>
          <p:nvPr/>
        </p:nvSpPr>
        <p:spPr>
          <a:xfrm>
            <a:off x="4875208" y="2365889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4CB07B6A-DA85-BE50-76B2-46912670CE35}"/>
              </a:ext>
            </a:extLst>
          </p:cNvPr>
          <p:cNvSpPr/>
          <p:nvPr/>
        </p:nvSpPr>
        <p:spPr>
          <a:xfrm>
            <a:off x="4729758" y="2495565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B13667AB-B115-C859-FCBE-E772D7F983B3}"/>
              </a:ext>
            </a:extLst>
          </p:cNvPr>
          <p:cNvSpPr/>
          <p:nvPr/>
        </p:nvSpPr>
        <p:spPr>
          <a:xfrm>
            <a:off x="5250541" y="2258675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99CC72B3-EF4A-8219-9E61-8FA4FDDBBBA4}"/>
              </a:ext>
            </a:extLst>
          </p:cNvPr>
          <p:cNvSpPr/>
          <p:nvPr/>
        </p:nvSpPr>
        <p:spPr>
          <a:xfrm>
            <a:off x="5087327" y="2388878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BD20C11-1D30-74FE-9FE8-2E8B0A9C8E7A}"/>
              </a:ext>
            </a:extLst>
          </p:cNvPr>
          <p:cNvSpPr/>
          <p:nvPr/>
        </p:nvSpPr>
        <p:spPr>
          <a:xfrm>
            <a:off x="4920927" y="255996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D5061A11-C11B-98AD-B2EF-E8D91EE96155}"/>
              </a:ext>
            </a:extLst>
          </p:cNvPr>
          <p:cNvSpPr/>
          <p:nvPr/>
        </p:nvSpPr>
        <p:spPr>
          <a:xfrm>
            <a:off x="4785932" y="2707561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A68735FD-FFA8-7CF9-4F7E-6680487AD3C2}"/>
              </a:ext>
            </a:extLst>
          </p:cNvPr>
          <p:cNvSpPr/>
          <p:nvPr/>
        </p:nvSpPr>
        <p:spPr>
          <a:xfrm>
            <a:off x="5148639" y="2644024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7" name="Elipse 86">
            <a:extLst>
              <a:ext uri="{FF2B5EF4-FFF2-40B4-BE49-F238E27FC236}">
                <a16:creationId xmlns:a16="http://schemas.microsoft.com/office/drawing/2014/main" id="{C353A06F-E9C0-97F4-CCF3-226379445F98}"/>
              </a:ext>
            </a:extLst>
          </p:cNvPr>
          <p:cNvSpPr/>
          <p:nvPr/>
        </p:nvSpPr>
        <p:spPr>
          <a:xfrm>
            <a:off x="5137302" y="2117794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D5ABB97-7C8A-D505-951E-F145CBBC06E3}"/>
              </a:ext>
            </a:extLst>
          </p:cNvPr>
          <p:cNvSpPr/>
          <p:nvPr/>
        </p:nvSpPr>
        <p:spPr>
          <a:xfrm>
            <a:off x="4970902" y="2270194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1D334D04-4DA5-B8EF-AE1F-16AF5FBEF76A}"/>
              </a:ext>
            </a:extLst>
          </p:cNvPr>
          <p:cNvSpPr/>
          <p:nvPr/>
        </p:nvSpPr>
        <p:spPr>
          <a:xfrm>
            <a:off x="4825452" y="239987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435C40EB-AA75-A67A-8A02-68B6EA0F6F03}"/>
              </a:ext>
            </a:extLst>
          </p:cNvPr>
          <p:cNvSpPr/>
          <p:nvPr/>
        </p:nvSpPr>
        <p:spPr>
          <a:xfrm>
            <a:off x="5346235" y="216298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096AE40-183D-D9A5-4378-884B55E5C48C}"/>
              </a:ext>
            </a:extLst>
          </p:cNvPr>
          <p:cNvSpPr/>
          <p:nvPr/>
        </p:nvSpPr>
        <p:spPr>
          <a:xfrm>
            <a:off x="5183021" y="2293183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186940E-4084-1A7E-0F19-B7C09E7E9440}"/>
              </a:ext>
            </a:extLst>
          </p:cNvPr>
          <p:cNvSpPr/>
          <p:nvPr/>
        </p:nvSpPr>
        <p:spPr>
          <a:xfrm>
            <a:off x="5016621" y="2464265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5F5C187E-032E-B79D-2E98-A51419D44146}"/>
              </a:ext>
            </a:extLst>
          </p:cNvPr>
          <p:cNvSpPr/>
          <p:nvPr/>
        </p:nvSpPr>
        <p:spPr>
          <a:xfrm>
            <a:off x="4881626" y="2611866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02A648C-11BE-9171-9C5A-116638021E0C}"/>
              </a:ext>
            </a:extLst>
          </p:cNvPr>
          <p:cNvSpPr/>
          <p:nvPr/>
        </p:nvSpPr>
        <p:spPr>
          <a:xfrm>
            <a:off x="5244333" y="2548329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Estrella: 4 puntas 94">
            <a:extLst>
              <a:ext uri="{FF2B5EF4-FFF2-40B4-BE49-F238E27FC236}">
                <a16:creationId xmlns:a16="http://schemas.microsoft.com/office/drawing/2014/main" id="{56C4CC51-9013-AF9A-5C56-E7C432FEF449}"/>
              </a:ext>
            </a:extLst>
          </p:cNvPr>
          <p:cNvSpPr/>
          <p:nvPr/>
        </p:nvSpPr>
        <p:spPr>
          <a:xfrm>
            <a:off x="6067292" y="3157871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Estrella: 4 puntas 95">
            <a:extLst>
              <a:ext uri="{FF2B5EF4-FFF2-40B4-BE49-F238E27FC236}">
                <a16:creationId xmlns:a16="http://schemas.microsoft.com/office/drawing/2014/main" id="{2773158C-B68D-E314-4FCA-9BCBB0FE3CDE}"/>
              </a:ext>
            </a:extLst>
          </p:cNvPr>
          <p:cNvSpPr/>
          <p:nvPr/>
        </p:nvSpPr>
        <p:spPr>
          <a:xfrm>
            <a:off x="4806840" y="2119438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7" name="Estrella: 4 puntas 96">
            <a:extLst>
              <a:ext uri="{FF2B5EF4-FFF2-40B4-BE49-F238E27FC236}">
                <a16:creationId xmlns:a16="http://schemas.microsoft.com/office/drawing/2014/main" id="{14C21D75-E327-E7E1-7F9F-DF31B599AD2A}"/>
              </a:ext>
            </a:extLst>
          </p:cNvPr>
          <p:cNvSpPr/>
          <p:nvPr/>
        </p:nvSpPr>
        <p:spPr>
          <a:xfrm>
            <a:off x="5076203" y="2760940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13161849-8CDF-23C7-F68C-C5CBFFB77817}"/>
              </a:ext>
            </a:extLst>
          </p:cNvPr>
          <p:cNvSpPr/>
          <p:nvPr/>
        </p:nvSpPr>
        <p:spPr>
          <a:xfrm>
            <a:off x="134666" y="765541"/>
            <a:ext cx="1823319" cy="1783711"/>
          </a:xfrm>
          <a:prstGeom prst="ellipse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7177BD64-D9EA-FBF9-FD26-2743E3BEA52D}"/>
              </a:ext>
            </a:extLst>
          </p:cNvPr>
          <p:cNvSpPr/>
          <p:nvPr/>
        </p:nvSpPr>
        <p:spPr>
          <a:xfrm>
            <a:off x="933528" y="4481422"/>
            <a:ext cx="202019" cy="191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FAB203AB-22E5-DCF6-4C33-A729B858A3F5}"/>
              </a:ext>
            </a:extLst>
          </p:cNvPr>
          <p:cNvCxnSpPr>
            <a:cxnSpLocks/>
            <a:stCxn id="99" idx="0"/>
            <a:endCxn id="98" idx="4"/>
          </p:cNvCxnSpPr>
          <p:nvPr/>
        </p:nvCxnSpPr>
        <p:spPr>
          <a:xfrm flipV="1">
            <a:off x="1034538" y="2549252"/>
            <a:ext cx="11788" cy="193217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>
            <a:extLst>
              <a:ext uri="{FF2B5EF4-FFF2-40B4-BE49-F238E27FC236}">
                <a16:creationId xmlns:a16="http://schemas.microsoft.com/office/drawing/2014/main" id="{93D53325-B5E2-C11A-3278-E9606EB74DFF}"/>
              </a:ext>
            </a:extLst>
          </p:cNvPr>
          <p:cNvSpPr/>
          <p:nvPr/>
        </p:nvSpPr>
        <p:spPr>
          <a:xfrm>
            <a:off x="1447790" y="1075800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5735E198-FDA1-2B90-DFD3-5E9D099266B3}"/>
              </a:ext>
            </a:extLst>
          </p:cNvPr>
          <p:cNvSpPr/>
          <p:nvPr/>
        </p:nvSpPr>
        <p:spPr>
          <a:xfrm>
            <a:off x="771028" y="1738563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B9E83D46-DD64-EB05-BB79-FBDE26329C77}"/>
              </a:ext>
            </a:extLst>
          </p:cNvPr>
          <p:cNvSpPr/>
          <p:nvPr/>
        </p:nvSpPr>
        <p:spPr>
          <a:xfrm>
            <a:off x="338499" y="1449495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AAB73A99-4B97-0A58-7045-9A03A8FF0AFA}"/>
              </a:ext>
            </a:extLst>
          </p:cNvPr>
          <p:cNvSpPr/>
          <p:nvPr/>
        </p:nvSpPr>
        <p:spPr>
          <a:xfrm>
            <a:off x="460990" y="2110243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8" name="Estrella: 4 puntas 127">
            <a:extLst>
              <a:ext uri="{FF2B5EF4-FFF2-40B4-BE49-F238E27FC236}">
                <a16:creationId xmlns:a16="http://schemas.microsoft.com/office/drawing/2014/main" id="{5E61976F-B2C8-00E3-0831-1FD13E5244DE}"/>
              </a:ext>
            </a:extLst>
          </p:cNvPr>
          <p:cNvSpPr/>
          <p:nvPr/>
        </p:nvSpPr>
        <p:spPr>
          <a:xfrm>
            <a:off x="802066" y="1057829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9" name="Estrella: 4 puntas 128">
            <a:extLst>
              <a:ext uri="{FF2B5EF4-FFF2-40B4-BE49-F238E27FC236}">
                <a16:creationId xmlns:a16="http://schemas.microsoft.com/office/drawing/2014/main" id="{7E23BB38-3AF0-CE0A-0BFB-B571F6F7B37D}"/>
              </a:ext>
            </a:extLst>
          </p:cNvPr>
          <p:cNvSpPr/>
          <p:nvPr/>
        </p:nvSpPr>
        <p:spPr>
          <a:xfrm>
            <a:off x="1104356" y="1281574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3" name="Estrella: 4 puntas 132">
            <a:extLst>
              <a:ext uri="{FF2B5EF4-FFF2-40B4-BE49-F238E27FC236}">
                <a16:creationId xmlns:a16="http://schemas.microsoft.com/office/drawing/2014/main" id="{9BC0D5F2-3B37-C493-5254-F64FACC05C8D}"/>
              </a:ext>
            </a:extLst>
          </p:cNvPr>
          <p:cNvSpPr/>
          <p:nvPr/>
        </p:nvSpPr>
        <p:spPr>
          <a:xfrm>
            <a:off x="516009" y="1646175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Estrella: 4 puntas 133">
            <a:extLst>
              <a:ext uri="{FF2B5EF4-FFF2-40B4-BE49-F238E27FC236}">
                <a16:creationId xmlns:a16="http://schemas.microsoft.com/office/drawing/2014/main" id="{D047869B-B405-1E00-B2B6-F23EC0184D78}"/>
              </a:ext>
            </a:extLst>
          </p:cNvPr>
          <p:cNvSpPr/>
          <p:nvPr/>
        </p:nvSpPr>
        <p:spPr>
          <a:xfrm>
            <a:off x="1572137" y="1398532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5" name="Estrella: 4 puntas 134">
            <a:extLst>
              <a:ext uri="{FF2B5EF4-FFF2-40B4-BE49-F238E27FC236}">
                <a16:creationId xmlns:a16="http://schemas.microsoft.com/office/drawing/2014/main" id="{6BAA305F-9CAD-6426-648A-D1342838F033}"/>
              </a:ext>
            </a:extLst>
          </p:cNvPr>
          <p:cNvSpPr/>
          <p:nvPr/>
        </p:nvSpPr>
        <p:spPr>
          <a:xfrm>
            <a:off x="913183" y="2195974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6" name="Estrella: 4 puntas 135">
            <a:extLst>
              <a:ext uri="{FF2B5EF4-FFF2-40B4-BE49-F238E27FC236}">
                <a16:creationId xmlns:a16="http://schemas.microsoft.com/office/drawing/2014/main" id="{15171124-758B-8CF1-8413-0AFA43BB9BE6}"/>
              </a:ext>
            </a:extLst>
          </p:cNvPr>
          <p:cNvSpPr/>
          <p:nvPr/>
        </p:nvSpPr>
        <p:spPr>
          <a:xfrm>
            <a:off x="1521545" y="1977082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7" name="Estrella: 4 puntas 136">
            <a:extLst>
              <a:ext uri="{FF2B5EF4-FFF2-40B4-BE49-F238E27FC236}">
                <a16:creationId xmlns:a16="http://schemas.microsoft.com/office/drawing/2014/main" id="{573AC50B-5932-A55C-31BD-C460C6D6CA48}"/>
              </a:ext>
            </a:extLst>
          </p:cNvPr>
          <p:cNvSpPr/>
          <p:nvPr/>
        </p:nvSpPr>
        <p:spPr>
          <a:xfrm>
            <a:off x="1111338" y="1841965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Estrella: 4 puntas 137">
            <a:extLst>
              <a:ext uri="{FF2B5EF4-FFF2-40B4-BE49-F238E27FC236}">
                <a16:creationId xmlns:a16="http://schemas.microsoft.com/office/drawing/2014/main" id="{E4C41B05-EE4D-BADB-5C67-CDBF00E17F9B}"/>
              </a:ext>
            </a:extLst>
          </p:cNvPr>
          <p:cNvSpPr/>
          <p:nvPr/>
        </p:nvSpPr>
        <p:spPr>
          <a:xfrm>
            <a:off x="460990" y="1143259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0" name="Estrella: 4 puntas 139">
            <a:extLst>
              <a:ext uri="{FF2B5EF4-FFF2-40B4-BE49-F238E27FC236}">
                <a16:creationId xmlns:a16="http://schemas.microsoft.com/office/drawing/2014/main" id="{DABA82B9-9032-02A6-87D4-AB20C18925E8}"/>
              </a:ext>
            </a:extLst>
          </p:cNvPr>
          <p:cNvSpPr/>
          <p:nvPr/>
        </p:nvSpPr>
        <p:spPr>
          <a:xfrm>
            <a:off x="1388086" y="1799672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932BC7B5-962E-ED7E-D760-D2BCDEBA4FBE}"/>
              </a:ext>
            </a:extLst>
          </p:cNvPr>
          <p:cNvSpPr/>
          <p:nvPr/>
        </p:nvSpPr>
        <p:spPr>
          <a:xfrm>
            <a:off x="1327468" y="2273737"/>
            <a:ext cx="45719" cy="671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F1BD447E-27A1-39A8-B61D-38B239DA942E}"/>
              </a:ext>
            </a:extLst>
          </p:cNvPr>
          <p:cNvSpPr txBox="1"/>
          <p:nvPr/>
        </p:nvSpPr>
        <p:spPr>
          <a:xfrm>
            <a:off x="384217" y="361506"/>
            <a:ext cx="4798803" cy="49769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b="1" dirty="0">
                <a:solidFill>
                  <a:schemeClr val="accent1"/>
                </a:solidFill>
              </a:rPr>
              <a:t>Red deficitaria			      Red rentable</a:t>
            </a:r>
          </a:p>
        </p:txBody>
      </p:sp>
      <p:sp>
        <p:nvSpPr>
          <p:cNvPr id="143" name="Flecha: a la izquierda y derecha 142">
            <a:extLst>
              <a:ext uri="{FF2B5EF4-FFF2-40B4-BE49-F238E27FC236}">
                <a16:creationId xmlns:a16="http://schemas.microsoft.com/office/drawing/2014/main" id="{296D8ACF-165F-1BD2-D061-217B30567838}"/>
              </a:ext>
            </a:extLst>
          </p:cNvPr>
          <p:cNvSpPr/>
          <p:nvPr/>
        </p:nvSpPr>
        <p:spPr>
          <a:xfrm>
            <a:off x="2062714" y="1564879"/>
            <a:ext cx="2321444" cy="422374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Lejos - Ubicación - Cerca</a:t>
            </a:r>
          </a:p>
        </p:txBody>
      </p:sp>
      <p:sp>
        <p:nvSpPr>
          <p:cNvPr id="144" name="Flecha: a la izquierda y derecha 143">
            <a:extLst>
              <a:ext uri="{FF2B5EF4-FFF2-40B4-BE49-F238E27FC236}">
                <a16:creationId xmlns:a16="http://schemas.microsoft.com/office/drawing/2014/main" id="{6DBA3118-5126-B089-AF46-6FFF0D373A90}"/>
              </a:ext>
            </a:extLst>
          </p:cNvPr>
          <p:cNvSpPr/>
          <p:nvPr/>
        </p:nvSpPr>
        <p:spPr>
          <a:xfrm>
            <a:off x="2062714" y="2069721"/>
            <a:ext cx="2321444" cy="422374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Baja- Densidad - Alta</a:t>
            </a:r>
          </a:p>
        </p:txBody>
      </p:sp>
      <p:sp>
        <p:nvSpPr>
          <p:cNvPr id="145" name="Flecha: a la izquierda y derecha 144">
            <a:extLst>
              <a:ext uri="{FF2B5EF4-FFF2-40B4-BE49-F238E27FC236}">
                <a16:creationId xmlns:a16="http://schemas.microsoft.com/office/drawing/2014/main" id="{FB3B7D85-D5DA-19C3-3085-E5198C6C13D9}"/>
              </a:ext>
            </a:extLst>
          </p:cNvPr>
          <p:cNvSpPr/>
          <p:nvPr/>
        </p:nvSpPr>
        <p:spPr>
          <a:xfrm>
            <a:off x="2066089" y="2579807"/>
            <a:ext cx="2321444" cy="486160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00" dirty="0">
                <a:solidFill>
                  <a:schemeClr val="tx1"/>
                </a:solidFill>
              </a:rPr>
              <a:t>Alta    – Proporción Usuarios –    Baja</a:t>
            </a:r>
          </a:p>
          <a:p>
            <a:pPr algn="ctr"/>
            <a:r>
              <a:rPr lang="es-CO" sz="900" dirty="0">
                <a:solidFill>
                  <a:schemeClr val="tx1"/>
                </a:solidFill>
              </a:rPr>
              <a:t>Sin Capacidad Pago</a:t>
            </a:r>
          </a:p>
        </p:txBody>
      </p:sp>
      <p:sp>
        <p:nvSpPr>
          <p:cNvPr id="146" name="Flecha: a la izquierda y derecha 145">
            <a:extLst>
              <a:ext uri="{FF2B5EF4-FFF2-40B4-BE49-F238E27FC236}">
                <a16:creationId xmlns:a16="http://schemas.microsoft.com/office/drawing/2014/main" id="{D2FF0C46-7922-CDE0-86DA-E2F01FF97BA9}"/>
              </a:ext>
            </a:extLst>
          </p:cNvPr>
          <p:cNvSpPr/>
          <p:nvPr/>
        </p:nvSpPr>
        <p:spPr>
          <a:xfrm>
            <a:off x="2066089" y="3148913"/>
            <a:ext cx="2321444" cy="422374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Baja o nula – Competencia - Alta</a:t>
            </a:r>
          </a:p>
        </p:txBody>
      </p:sp>
      <p:sp>
        <p:nvSpPr>
          <p:cNvPr id="147" name="Flecha: a la izquierda y derecha 146">
            <a:extLst>
              <a:ext uri="{FF2B5EF4-FFF2-40B4-BE49-F238E27FC236}">
                <a16:creationId xmlns:a16="http://schemas.microsoft.com/office/drawing/2014/main" id="{DC877571-595B-ADA7-A451-229753CE13F7}"/>
              </a:ext>
            </a:extLst>
          </p:cNvPr>
          <p:cNvSpPr/>
          <p:nvPr/>
        </p:nvSpPr>
        <p:spPr>
          <a:xfrm>
            <a:off x="2054976" y="3643201"/>
            <a:ext cx="2321444" cy="422374"/>
          </a:xfrm>
          <a:prstGeom prst="left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>
                <a:solidFill>
                  <a:schemeClr val="tx1"/>
                </a:solidFill>
              </a:rPr>
              <a:t>Alto – Costo provisión - Bajo</a:t>
            </a:r>
          </a:p>
        </p:txBody>
      </p:sp>
      <p:sp>
        <p:nvSpPr>
          <p:cNvPr id="151" name="Estrella: 4 puntas 150">
            <a:extLst>
              <a:ext uri="{FF2B5EF4-FFF2-40B4-BE49-F238E27FC236}">
                <a16:creationId xmlns:a16="http://schemas.microsoft.com/office/drawing/2014/main" id="{A18C7538-FBA8-DAF5-1B2C-82DF98D04B9E}"/>
              </a:ext>
            </a:extLst>
          </p:cNvPr>
          <p:cNvSpPr/>
          <p:nvPr/>
        </p:nvSpPr>
        <p:spPr>
          <a:xfrm>
            <a:off x="1256756" y="1513486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2" name="Estrella: 4 puntas 151">
            <a:extLst>
              <a:ext uri="{FF2B5EF4-FFF2-40B4-BE49-F238E27FC236}">
                <a16:creationId xmlns:a16="http://schemas.microsoft.com/office/drawing/2014/main" id="{F1CC4C2B-997F-EF89-A69D-4DF8441AE758}"/>
              </a:ext>
            </a:extLst>
          </p:cNvPr>
          <p:cNvSpPr/>
          <p:nvPr/>
        </p:nvSpPr>
        <p:spPr>
          <a:xfrm>
            <a:off x="1140801" y="960207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3" name="Estrella: 4 puntas 152">
            <a:extLst>
              <a:ext uri="{FF2B5EF4-FFF2-40B4-BE49-F238E27FC236}">
                <a16:creationId xmlns:a16="http://schemas.microsoft.com/office/drawing/2014/main" id="{2A097135-71CB-8206-0144-95BBA15042FB}"/>
              </a:ext>
            </a:extLst>
          </p:cNvPr>
          <p:cNvSpPr/>
          <p:nvPr/>
        </p:nvSpPr>
        <p:spPr>
          <a:xfrm>
            <a:off x="299287" y="1957434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4" name="Estrella: 4 puntas 153">
            <a:extLst>
              <a:ext uri="{FF2B5EF4-FFF2-40B4-BE49-F238E27FC236}">
                <a16:creationId xmlns:a16="http://schemas.microsoft.com/office/drawing/2014/main" id="{3D6DE1CD-CCE5-2FBC-18A4-9A02AB13AB6A}"/>
              </a:ext>
            </a:extLst>
          </p:cNvPr>
          <p:cNvSpPr/>
          <p:nvPr/>
        </p:nvSpPr>
        <p:spPr>
          <a:xfrm>
            <a:off x="670345" y="2189346"/>
            <a:ext cx="62382" cy="116958"/>
          </a:xfrm>
          <a:prstGeom prst="star4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805042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690BFC9-1C67-EBE7-7D10-0AB3700B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8</a:t>
            </a:fld>
            <a:endParaRPr lang="es-CO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E3DBE19-8F0B-B60B-3006-88FB7B0EE575}"/>
              </a:ext>
            </a:extLst>
          </p:cNvPr>
          <p:cNvCxnSpPr/>
          <p:nvPr/>
        </p:nvCxnSpPr>
        <p:spPr>
          <a:xfrm flipV="1">
            <a:off x="654627" y="1215736"/>
            <a:ext cx="0" cy="2410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FEB85EB-90C0-8025-21BD-DCA18FE4A319}"/>
              </a:ext>
            </a:extLst>
          </p:cNvPr>
          <p:cNvCxnSpPr>
            <a:cxnSpLocks/>
          </p:cNvCxnSpPr>
          <p:nvPr/>
        </p:nvCxnSpPr>
        <p:spPr>
          <a:xfrm>
            <a:off x="654627" y="3626427"/>
            <a:ext cx="22340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B08CE82-F38A-B66C-0F0A-F1C7CC1A5B7C}"/>
              </a:ext>
            </a:extLst>
          </p:cNvPr>
          <p:cNvCxnSpPr/>
          <p:nvPr/>
        </p:nvCxnSpPr>
        <p:spPr>
          <a:xfrm flipV="1">
            <a:off x="1506682" y="1288473"/>
            <a:ext cx="0" cy="23275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1A0FC3D5-8662-BF66-C032-DA44AC7B1DC5}"/>
              </a:ext>
            </a:extLst>
          </p:cNvPr>
          <p:cNvSpPr/>
          <p:nvPr/>
        </p:nvSpPr>
        <p:spPr>
          <a:xfrm>
            <a:off x="654627" y="1672936"/>
            <a:ext cx="2244437" cy="1943100"/>
          </a:xfrm>
          <a:custGeom>
            <a:avLst/>
            <a:gdLst>
              <a:gd name="connsiteX0" fmla="*/ 0 w 2244437"/>
              <a:gd name="connsiteY0" fmla="*/ 1943100 h 1943100"/>
              <a:gd name="connsiteX1" fmla="*/ 249382 w 2244437"/>
              <a:gd name="connsiteY1" fmla="*/ 1039091 h 1943100"/>
              <a:gd name="connsiteX2" fmla="*/ 852055 w 2244437"/>
              <a:gd name="connsiteY2" fmla="*/ 446809 h 1943100"/>
              <a:gd name="connsiteX3" fmla="*/ 2244437 w 2244437"/>
              <a:gd name="connsiteY3" fmla="*/ 0 h 194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4437" h="1943100">
                <a:moveTo>
                  <a:pt x="0" y="1943100"/>
                </a:moveTo>
                <a:cubicBezTo>
                  <a:pt x="53686" y="1615786"/>
                  <a:pt x="107373" y="1288473"/>
                  <a:pt x="249382" y="1039091"/>
                </a:cubicBezTo>
                <a:cubicBezTo>
                  <a:pt x="391391" y="789709"/>
                  <a:pt x="519546" y="619991"/>
                  <a:pt x="852055" y="446809"/>
                </a:cubicBezTo>
                <a:cubicBezTo>
                  <a:pt x="1184564" y="273627"/>
                  <a:pt x="1714500" y="136813"/>
                  <a:pt x="224443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C04D317-A8CF-0EBC-5DEE-E21F706079C2}"/>
              </a:ext>
            </a:extLst>
          </p:cNvPr>
          <p:cNvSpPr txBox="1"/>
          <p:nvPr/>
        </p:nvSpPr>
        <p:spPr>
          <a:xfrm>
            <a:off x="1091042" y="357447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b="1" dirty="0"/>
              <a:t>Hoy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/>
              <a:t>			Tiempo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EDDF23-EB2F-D58F-36FC-E99700907E78}"/>
              </a:ext>
            </a:extLst>
          </p:cNvPr>
          <p:cNvSpPr txBox="1"/>
          <p:nvPr/>
        </p:nvSpPr>
        <p:spPr>
          <a:xfrm rot="16200000">
            <a:off x="17314" y="1659079"/>
            <a:ext cx="914400" cy="27362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/>
              <a:t>Desarrollo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0CCAF12-55A3-60C5-6F3A-54C8E3AF00E2}"/>
              </a:ext>
            </a:extLst>
          </p:cNvPr>
          <p:cNvSpPr txBox="1"/>
          <p:nvPr/>
        </p:nvSpPr>
        <p:spPr>
          <a:xfrm>
            <a:off x="696186" y="800101"/>
            <a:ext cx="2005450" cy="41563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Desarrollo agregado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B9099D-28A3-C51C-A2E4-BC05E29FE710}"/>
              </a:ext>
            </a:extLst>
          </p:cNvPr>
          <p:cNvSpPr txBox="1"/>
          <p:nvPr/>
        </p:nvSpPr>
        <p:spPr>
          <a:xfrm>
            <a:off x="5659580" y="443346"/>
            <a:ext cx="2005450" cy="41563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Desarrollo diferencial</a:t>
            </a:r>
          </a:p>
        </p:txBody>
      </p:sp>
      <p:grpSp>
        <p:nvGrpSpPr>
          <p:cNvPr id="15" name="3 Grupo">
            <a:extLst>
              <a:ext uri="{FF2B5EF4-FFF2-40B4-BE49-F238E27FC236}">
                <a16:creationId xmlns:a16="http://schemas.microsoft.com/office/drawing/2014/main" id="{85D12B3B-6495-4A9E-BDBE-31D809A9B8B0}"/>
              </a:ext>
            </a:extLst>
          </p:cNvPr>
          <p:cNvGrpSpPr>
            <a:grpSpLocks/>
          </p:cNvGrpSpPr>
          <p:nvPr/>
        </p:nvGrpSpPr>
        <p:grpSpPr bwMode="auto">
          <a:xfrm>
            <a:off x="4528565" y="973357"/>
            <a:ext cx="1114408" cy="3115527"/>
            <a:chOff x="3541713" y="1196975"/>
            <a:chExt cx="1476596" cy="4970546"/>
          </a:xfrm>
        </p:grpSpPr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C8E1309-7570-A258-67BD-56211F0FA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938" y="1196975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Line 28">
              <a:extLst>
                <a:ext uri="{FF2B5EF4-FFF2-40B4-BE49-F238E27FC236}">
                  <a16:creationId xmlns:a16="http://schemas.microsoft.com/office/drawing/2014/main" id="{DBA89DF0-C3D1-D61E-AD9A-AB1BA4BCF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2060575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CDBF319E-A390-E0FA-3630-BDDC79415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863" y="1196975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Line 31">
              <a:extLst>
                <a:ext uri="{FF2B5EF4-FFF2-40B4-BE49-F238E27FC236}">
                  <a16:creationId xmlns:a16="http://schemas.microsoft.com/office/drawing/2014/main" id="{E844FA57-DC52-7522-7143-C0B7820F4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938" y="2420938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Line 32">
              <a:extLst>
                <a:ext uri="{FF2B5EF4-FFF2-40B4-BE49-F238E27FC236}">
                  <a16:creationId xmlns:a16="http://schemas.microsoft.com/office/drawing/2014/main" id="{25D36E89-EC69-BBDB-3F4A-CA697D93C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3284538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5A0C9B96-C419-6699-A531-7CA009A0B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863" y="2420938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Line 34">
              <a:extLst>
                <a:ext uri="{FF2B5EF4-FFF2-40B4-BE49-F238E27FC236}">
                  <a16:creationId xmlns:a16="http://schemas.microsoft.com/office/drawing/2014/main" id="{BA6F88E2-AD17-E157-A8E5-38B3E3086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938" y="36449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Line 35">
              <a:extLst>
                <a:ext uri="{FF2B5EF4-FFF2-40B4-BE49-F238E27FC236}">
                  <a16:creationId xmlns:a16="http://schemas.microsoft.com/office/drawing/2014/main" id="{82240EC6-C15D-E6D2-B47B-0DE65DD12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4508500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Line 36">
              <a:extLst>
                <a:ext uri="{FF2B5EF4-FFF2-40B4-BE49-F238E27FC236}">
                  <a16:creationId xmlns:a16="http://schemas.microsoft.com/office/drawing/2014/main" id="{A5046985-B2BE-AEED-D4A8-72DA27A52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863" y="3644900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Line 37">
              <a:extLst>
                <a:ext uri="{FF2B5EF4-FFF2-40B4-BE49-F238E27FC236}">
                  <a16:creationId xmlns:a16="http://schemas.microsoft.com/office/drawing/2014/main" id="{BC1B24BF-DB0A-35EA-4A3D-2DDCE9369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3938" y="4941888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Line 38">
              <a:extLst>
                <a:ext uri="{FF2B5EF4-FFF2-40B4-BE49-F238E27FC236}">
                  <a16:creationId xmlns:a16="http://schemas.microsoft.com/office/drawing/2014/main" id="{4E92EB07-87E0-DCBF-03E9-7DC110F35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38" y="5805488"/>
              <a:ext cx="936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Line 39">
              <a:extLst>
                <a:ext uri="{FF2B5EF4-FFF2-40B4-BE49-F238E27FC236}">
                  <a16:creationId xmlns:a16="http://schemas.microsoft.com/office/drawing/2014/main" id="{707DBC66-260B-D090-4338-49F4BBC5E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863" y="4941888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7A0712D5-1085-4E30-781E-298247CAB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938" y="1196975"/>
              <a:ext cx="865187" cy="863600"/>
            </a:xfrm>
            <a:custGeom>
              <a:avLst/>
              <a:gdLst>
                <a:gd name="T0" fmla="*/ 0 w 545"/>
                <a:gd name="T1" fmla="*/ 2147483647 h 544"/>
                <a:gd name="T2" fmla="*/ 2147483647 w 545"/>
                <a:gd name="T3" fmla="*/ 2147483647 h 544"/>
                <a:gd name="T4" fmla="*/ 2147483647 w 545"/>
                <a:gd name="T5" fmla="*/ 0 h 544"/>
                <a:gd name="T6" fmla="*/ 0 60000 65536"/>
                <a:gd name="T7" fmla="*/ 0 60000 65536"/>
                <a:gd name="T8" fmla="*/ 0 60000 65536"/>
                <a:gd name="T9" fmla="*/ 0 w 545"/>
                <a:gd name="T10" fmla="*/ 0 h 544"/>
                <a:gd name="T11" fmla="*/ 545 w 545"/>
                <a:gd name="T12" fmla="*/ 544 h 5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544">
                  <a:moveTo>
                    <a:pt x="0" y="544"/>
                  </a:moveTo>
                  <a:cubicBezTo>
                    <a:pt x="0" y="363"/>
                    <a:pt x="0" y="182"/>
                    <a:pt x="91" y="91"/>
                  </a:cubicBezTo>
                  <a:cubicBezTo>
                    <a:pt x="182" y="0"/>
                    <a:pt x="454" y="8"/>
                    <a:pt x="545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41">
              <a:extLst>
                <a:ext uri="{FF2B5EF4-FFF2-40B4-BE49-F238E27FC236}">
                  <a16:creationId xmlns:a16="http://schemas.microsoft.com/office/drawing/2014/main" id="{B6CE176B-615F-78FC-F664-F4F7811C4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938" y="2492375"/>
              <a:ext cx="865187" cy="792163"/>
            </a:xfrm>
            <a:custGeom>
              <a:avLst/>
              <a:gdLst>
                <a:gd name="T0" fmla="*/ 0 w 545"/>
                <a:gd name="T1" fmla="*/ 2147483647 h 499"/>
                <a:gd name="T2" fmla="*/ 2147483647 w 545"/>
                <a:gd name="T3" fmla="*/ 2147483647 h 499"/>
                <a:gd name="T4" fmla="*/ 2147483647 w 545"/>
                <a:gd name="T5" fmla="*/ 0 h 499"/>
                <a:gd name="T6" fmla="*/ 0 60000 65536"/>
                <a:gd name="T7" fmla="*/ 0 60000 65536"/>
                <a:gd name="T8" fmla="*/ 0 60000 65536"/>
                <a:gd name="T9" fmla="*/ 0 w 545"/>
                <a:gd name="T10" fmla="*/ 0 h 499"/>
                <a:gd name="T11" fmla="*/ 545 w 545"/>
                <a:gd name="T12" fmla="*/ 499 h 4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499">
                  <a:moveTo>
                    <a:pt x="0" y="499"/>
                  </a:moveTo>
                  <a:cubicBezTo>
                    <a:pt x="22" y="359"/>
                    <a:pt x="45" y="219"/>
                    <a:pt x="136" y="136"/>
                  </a:cubicBezTo>
                  <a:cubicBezTo>
                    <a:pt x="227" y="53"/>
                    <a:pt x="386" y="26"/>
                    <a:pt x="545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42">
              <a:extLst>
                <a:ext uri="{FF2B5EF4-FFF2-40B4-BE49-F238E27FC236}">
                  <a16:creationId xmlns:a16="http://schemas.microsoft.com/office/drawing/2014/main" id="{4AE29D2E-F6B1-D381-6383-A89ED854C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938" y="3789363"/>
              <a:ext cx="865187" cy="719137"/>
            </a:xfrm>
            <a:custGeom>
              <a:avLst/>
              <a:gdLst>
                <a:gd name="T0" fmla="*/ 0 w 545"/>
                <a:gd name="T1" fmla="*/ 2147483647 h 453"/>
                <a:gd name="T2" fmla="*/ 2147483647 w 545"/>
                <a:gd name="T3" fmla="*/ 2147483647 h 453"/>
                <a:gd name="T4" fmla="*/ 2147483647 w 545"/>
                <a:gd name="T5" fmla="*/ 0 h 453"/>
                <a:gd name="T6" fmla="*/ 0 60000 65536"/>
                <a:gd name="T7" fmla="*/ 0 60000 65536"/>
                <a:gd name="T8" fmla="*/ 0 60000 65536"/>
                <a:gd name="T9" fmla="*/ 0 w 545"/>
                <a:gd name="T10" fmla="*/ 0 h 453"/>
                <a:gd name="T11" fmla="*/ 545 w 545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453">
                  <a:moveTo>
                    <a:pt x="0" y="453"/>
                  </a:moveTo>
                  <a:cubicBezTo>
                    <a:pt x="45" y="355"/>
                    <a:pt x="91" y="257"/>
                    <a:pt x="182" y="181"/>
                  </a:cubicBezTo>
                  <a:cubicBezTo>
                    <a:pt x="273" y="105"/>
                    <a:pt x="409" y="52"/>
                    <a:pt x="545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43">
              <a:extLst>
                <a:ext uri="{FF2B5EF4-FFF2-40B4-BE49-F238E27FC236}">
                  <a16:creationId xmlns:a16="http://schemas.microsoft.com/office/drawing/2014/main" id="{EE126F64-2835-3683-EBF6-DC87957CA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938" y="5445125"/>
              <a:ext cx="865187" cy="360363"/>
            </a:xfrm>
            <a:custGeom>
              <a:avLst/>
              <a:gdLst>
                <a:gd name="T0" fmla="*/ 0 w 545"/>
                <a:gd name="T1" fmla="*/ 2147483647 h 227"/>
                <a:gd name="T2" fmla="*/ 2147483647 w 545"/>
                <a:gd name="T3" fmla="*/ 2147483647 h 227"/>
                <a:gd name="T4" fmla="*/ 2147483647 w 545"/>
                <a:gd name="T5" fmla="*/ 0 h 227"/>
                <a:gd name="T6" fmla="*/ 0 60000 65536"/>
                <a:gd name="T7" fmla="*/ 0 60000 65536"/>
                <a:gd name="T8" fmla="*/ 0 60000 65536"/>
                <a:gd name="T9" fmla="*/ 0 w 545"/>
                <a:gd name="T10" fmla="*/ 0 h 227"/>
                <a:gd name="T11" fmla="*/ 545 w 545"/>
                <a:gd name="T12" fmla="*/ 227 h 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227">
                  <a:moveTo>
                    <a:pt x="0" y="227"/>
                  </a:moveTo>
                  <a:cubicBezTo>
                    <a:pt x="68" y="178"/>
                    <a:pt x="136" y="129"/>
                    <a:pt x="227" y="91"/>
                  </a:cubicBezTo>
                  <a:cubicBezTo>
                    <a:pt x="318" y="53"/>
                    <a:pt x="431" y="26"/>
                    <a:pt x="545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Text Box 44">
              <a:extLst>
                <a:ext uri="{FF2B5EF4-FFF2-40B4-BE49-F238E27FC236}">
                  <a16:creationId xmlns:a16="http://schemas.microsoft.com/office/drawing/2014/main" id="{E276DCB6-4D33-41B0-9DAC-AAE427B89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888" y="2035175"/>
              <a:ext cx="1208972" cy="319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s-CO" altLang="es-MX" sz="700" dirty="0"/>
                <a:t>Grandes ciudades</a:t>
              </a:r>
              <a:endParaRPr lang="es-ES" altLang="es-MX" sz="700" dirty="0"/>
            </a:p>
          </p:txBody>
        </p:sp>
        <p:sp>
          <p:nvSpPr>
            <p:cNvPr id="33" name="Text Box 45">
              <a:extLst>
                <a:ext uri="{FF2B5EF4-FFF2-40B4-BE49-F238E27FC236}">
                  <a16:creationId xmlns:a16="http://schemas.microsoft.com/office/drawing/2014/main" id="{878F7BF9-7CA5-E7E5-07A2-052A26DBB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1713" y="3284538"/>
              <a:ext cx="1476596" cy="319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s-CO" altLang="es-MX" sz="700"/>
                <a:t>Cabeceras municipales</a:t>
              </a:r>
              <a:endParaRPr lang="es-ES" altLang="es-MX" sz="700"/>
            </a:p>
          </p:txBody>
        </p:sp>
        <p:sp>
          <p:nvSpPr>
            <p:cNvPr id="34" name="Text Box 46">
              <a:extLst>
                <a:ext uri="{FF2B5EF4-FFF2-40B4-BE49-F238E27FC236}">
                  <a16:creationId xmlns:a16="http://schemas.microsoft.com/office/drawing/2014/main" id="{820C4865-5855-44F0-50B2-4BC0FA340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413" y="4508501"/>
              <a:ext cx="1262074" cy="319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s-CO" altLang="es-MX" sz="700"/>
                <a:t>Zonas sub urbanas</a:t>
              </a:r>
              <a:endParaRPr lang="es-ES" altLang="es-MX" sz="700"/>
            </a:p>
          </p:txBody>
        </p:sp>
        <p:sp>
          <p:nvSpPr>
            <p:cNvPr id="35" name="Text Box 47">
              <a:extLst>
                <a:ext uri="{FF2B5EF4-FFF2-40B4-BE49-F238E27FC236}">
                  <a16:creationId xmlns:a16="http://schemas.microsoft.com/office/drawing/2014/main" id="{92EC0097-7F5A-C7AE-0567-31F4B61DA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9" y="5848351"/>
              <a:ext cx="971087" cy="319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s-CO" altLang="es-MX" sz="700" dirty="0"/>
                <a:t>Zonas rurales</a:t>
              </a:r>
              <a:endParaRPr lang="es-ES" altLang="es-MX" sz="700" dirty="0"/>
            </a:p>
          </p:txBody>
        </p:sp>
      </p:grpSp>
      <p:grpSp>
        <p:nvGrpSpPr>
          <p:cNvPr id="36" name="2 Grupo">
            <a:extLst>
              <a:ext uri="{FF2B5EF4-FFF2-40B4-BE49-F238E27FC236}">
                <a16:creationId xmlns:a16="http://schemas.microsoft.com/office/drawing/2014/main" id="{DF080DDF-6D0E-BF22-9BAB-4125FFB4691D}"/>
              </a:ext>
            </a:extLst>
          </p:cNvPr>
          <p:cNvGrpSpPr>
            <a:grpSpLocks/>
          </p:cNvGrpSpPr>
          <p:nvPr/>
        </p:nvGrpSpPr>
        <p:grpSpPr bwMode="auto">
          <a:xfrm>
            <a:off x="5676805" y="900661"/>
            <a:ext cx="2436865" cy="3099840"/>
            <a:chOff x="4887903" y="1268413"/>
            <a:chExt cx="3475452" cy="4473549"/>
          </a:xfrm>
        </p:grpSpPr>
        <p:grpSp>
          <p:nvGrpSpPr>
            <p:cNvPr id="37" name="3 Grupo">
              <a:extLst>
                <a:ext uri="{FF2B5EF4-FFF2-40B4-BE49-F238E27FC236}">
                  <a16:creationId xmlns:a16="http://schemas.microsoft.com/office/drawing/2014/main" id="{07EE977B-D66C-B7F8-817F-5ABA2EC0B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7903" y="1268413"/>
              <a:ext cx="1097893" cy="4002717"/>
              <a:chOff x="4887903" y="1268413"/>
              <a:chExt cx="1097893" cy="4002717"/>
            </a:xfrm>
          </p:grpSpPr>
          <p:sp>
            <p:nvSpPr>
              <p:cNvPr id="48" name="Oval 52">
                <a:extLst>
                  <a:ext uri="{FF2B5EF4-FFF2-40B4-BE49-F238E27FC236}">
                    <a16:creationId xmlns:a16="http://schemas.microsoft.com/office/drawing/2014/main" id="{B63DC8E5-1FEF-B064-EA18-1604E7C4F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7903" y="1268413"/>
                <a:ext cx="1097893" cy="1114513"/>
              </a:xfrm>
              <a:prstGeom prst="ellipse">
                <a:avLst/>
              </a:prstGeom>
              <a:solidFill>
                <a:srgbClr val="E5AC6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9" name="Oval 53">
                <a:extLst>
                  <a:ext uri="{FF2B5EF4-FFF2-40B4-BE49-F238E27FC236}">
                    <a16:creationId xmlns:a16="http://schemas.microsoft.com/office/drawing/2014/main" id="{121947F4-B1EF-45D1-B83E-4E6C488E6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873" y="2565400"/>
                <a:ext cx="720725" cy="720725"/>
              </a:xfrm>
              <a:prstGeom prst="ellipse">
                <a:avLst/>
              </a:prstGeom>
              <a:solidFill>
                <a:srgbClr val="E5AC6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50" name="Oval 54">
                <a:extLst>
                  <a:ext uri="{FF2B5EF4-FFF2-40B4-BE49-F238E27FC236}">
                    <a16:creationId xmlns:a16="http://schemas.microsoft.com/office/drawing/2014/main" id="{FA86C063-6B77-4C84-CF7A-FC4E9736A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6281" y="3841894"/>
                <a:ext cx="420689" cy="431801"/>
              </a:xfrm>
              <a:prstGeom prst="ellipse">
                <a:avLst/>
              </a:prstGeom>
              <a:solidFill>
                <a:srgbClr val="E5AC6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51" name="Oval 55">
                <a:extLst>
                  <a:ext uri="{FF2B5EF4-FFF2-40B4-BE49-F238E27FC236}">
                    <a16:creationId xmlns:a16="http://schemas.microsoft.com/office/drawing/2014/main" id="{756E9F67-98D3-DAEC-1891-F22C67050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1639" y="4982421"/>
                <a:ext cx="283155" cy="288709"/>
              </a:xfrm>
              <a:prstGeom prst="ellipse">
                <a:avLst/>
              </a:prstGeom>
              <a:solidFill>
                <a:srgbClr val="E5AC6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</p:grpSp>
        <p:grpSp>
          <p:nvGrpSpPr>
            <p:cNvPr id="38" name="5 Grupo">
              <a:extLst>
                <a:ext uri="{FF2B5EF4-FFF2-40B4-BE49-F238E27FC236}">
                  <a16:creationId xmlns:a16="http://schemas.microsoft.com/office/drawing/2014/main" id="{F2AAF29E-14D2-4ADF-4CA7-87B5BDCCC1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73015" y="1672568"/>
              <a:ext cx="604059" cy="2702558"/>
              <a:chOff x="6173015" y="1672568"/>
              <a:chExt cx="604059" cy="2702558"/>
            </a:xfrm>
          </p:grpSpPr>
          <p:sp>
            <p:nvSpPr>
              <p:cNvPr id="45" name="Oval 56">
                <a:extLst>
                  <a:ext uri="{FF2B5EF4-FFF2-40B4-BE49-F238E27FC236}">
                    <a16:creationId xmlns:a16="http://schemas.microsoft.com/office/drawing/2014/main" id="{197856E4-F1AE-4870-D37C-B71DA7D4E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1138" y="1672568"/>
                <a:ext cx="204786" cy="2285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:a16="http://schemas.microsoft.com/office/drawing/2014/main" id="{EA2CD998-A932-BF94-2AB4-0ADB881F9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6503" y="2781299"/>
                <a:ext cx="450955" cy="431799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7" name="Oval 58">
                <a:extLst>
                  <a:ext uri="{FF2B5EF4-FFF2-40B4-BE49-F238E27FC236}">
                    <a16:creationId xmlns:a16="http://schemas.microsoft.com/office/drawing/2014/main" id="{FC0E7793-F904-95DB-EB0F-2EEBFCEFA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3015" y="3775299"/>
                <a:ext cx="604059" cy="59982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</p:grpSp>
        <p:grpSp>
          <p:nvGrpSpPr>
            <p:cNvPr id="39" name="2 Grupo">
              <a:extLst>
                <a:ext uri="{FF2B5EF4-FFF2-40B4-BE49-F238E27FC236}">
                  <a16:creationId xmlns:a16="http://schemas.microsoft.com/office/drawing/2014/main" id="{9CA94F7F-7763-E464-C8C0-2FADF7C95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7298" y="1677304"/>
              <a:ext cx="1146057" cy="4064658"/>
              <a:chOff x="7216801" y="1677304"/>
              <a:chExt cx="1146057" cy="4064658"/>
            </a:xfrm>
          </p:grpSpPr>
          <p:sp>
            <p:nvSpPr>
              <p:cNvPr id="41" name="Oval 61">
                <a:extLst>
                  <a:ext uri="{FF2B5EF4-FFF2-40B4-BE49-F238E27FC236}">
                    <a16:creationId xmlns:a16="http://schemas.microsoft.com/office/drawing/2014/main" id="{2CFC3881-2BF3-23E8-2114-7031C1950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4576" y="1677304"/>
                <a:ext cx="204786" cy="215900"/>
              </a:xfrm>
              <a:prstGeom prst="ellipse">
                <a:avLst/>
              </a:prstGeom>
              <a:solidFill>
                <a:srgbClr val="00CC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2" name="Oval 62">
                <a:extLst>
                  <a:ext uri="{FF2B5EF4-FFF2-40B4-BE49-F238E27FC236}">
                    <a16:creationId xmlns:a16="http://schemas.microsoft.com/office/drawing/2014/main" id="{ED94A47D-7490-79A2-B6DD-B9C043B93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8497" y="2781301"/>
                <a:ext cx="276225" cy="288925"/>
              </a:xfrm>
              <a:prstGeom prst="ellipse">
                <a:avLst/>
              </a:prstGeom>
              <a:solidFill>
                <a:srgbClr val="00CC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3" name="Oval 63">
                <a:extLst>
                  <a:ext uri="{FF2B5EF4-FFF2-40B4-BE49-F238E27FC236}">
                    <a16:creationId xmlns:a16="http://schemas.microsoft.com/office/drawing/2014/main" id="{E9C5E5AC-435E-3689-F669-C1CADF6AD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9282" y="3721926"/>
                <a:ext cx="682242" cy="668195"/>
              </a:xfrm>
              <a:prstGeom prst="ellipse">
                <a:avLst/>
              </a:prstGeom>
              <a:solidFill>
                <a:srgbClr val="00CC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  <p:sp>
            <p:nvSpPr>
              <p:cNvPr id="44" name="Oval 64">
                <a:extLst>
                  <a:ext uri="{FF2B5EF4-FFF2-40B4-BE49-F238E27FC236}">
                    <a16:creationId xmlns:a16="http://schemas.microsoft.com/office/drawing/2014/main" id="{F957C1D6-6332-98ED-4A6D-1C89657D3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6801" y="4602479"/>
                <a:ext cx="1146057" cy="1139483"/>
              </a:xfrm>
              <a:prstGeom prst="ellipse">
                <a:avLst/>
              </a:prstGeom>
              <a:solidFill>
                <a:srgbClr val="00CC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s-MX" altLang="es-MX"/>
              </a:p>
            </p:txBody>
          </p:sp>
        </p:grpSp>
      </p:grpSp>
      <p:sp>
        <p:nvSpPr>
          <p:cNvPr id="52" name="Oval 58">
            <a:extLst>
              <a:ext uri="{FF2B5EF4-FFF2-40B4-BE49-F238E27FC236}">
                <a16:creationId xmlns:a16="http://schemas.microsoft.com/office/drawing/2014/main" id="{57928A35-FC19-733B-8D5E-732403CFE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958" y="3304441"/>
            <a:ext cx="607445" cy="623711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s-MX" altLang="es-MX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C5B887A-FF28-0DCF-B83E-5F236E95C536}"/>
              </a:ext>
            </a:extLst>
          </p:cNvPr>
          <p:cNvSpPr txBox="1"/>
          <p:nvPr/>
        </p:nvSpPr>
        <p:spPr>
          <a:xfrm>
            <a:off x="5707981" y="4374573"/>
            <a:ext cx="2802173" cy="26163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dirty="0">
                <a:latin typeface="Arial" panose="020B0604020202020204" pitchFamily="34" charset="0"/>
                <a:cs typeface="Arial" panose="020B0604020202020204" pitchFamily="34" charset="0"/>
              </a:rPr>
              <a:t>Población          Impacto social       Costo per cápita</a:t>
            </a: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incremental per </a:t>
            </a:r>
          </a:p>
          <a:p>
            <a:pPr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cápita</a:t>
            </a:r>
          </a:p>
        </p:txBody>
      </p:sp>
      <p:sp>
        <p:nvSpPr>
          <p:cNvPr id="54" name="Text Box 67">
            <a:extLst>
              <a:ext uri="{FF2B5EF4-FFF2-40B4-BE49-F238E27FC236}">
                <a16:creationId xmlns:a16="http://schemas.microsoft.com/office/drawing/2014/main" id="{444D1B4F-9242-9FCD-3F98-0D958423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91" y="3858781"/>
            <a:ext cx="1819557" cy="554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CO" altLang="es-MX" sz="1000" dirty="0"/>
              <a:t>Beneficios marginales decrecientes vs costos marginales crecientes</a:t>
            </a:r>
            <a:endParaRPr lang="es-ES" altLang="es-MX" sz="1000" dirty="0"/>
          </a:p>
        </p:txBody>
      </p:sp>
    </p:spTree>
    <p:extLst>
      <p:ext uri="{BB962C8B-B14F-4D97-AF65-F5344CB8AC3E}">
        <p14:creationId xmlns:p14="http://schemas.microsoft.com/office/powerpoint/2010/main" val="246491983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6198454-1E09-3B11-C795-367097AC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9</a:t>
            </a:fld>
            <a:endParaRPr lang="es-CO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5D2A9C56-8991-33F8-4A69-852E1F933C88}"/>
              </a:ext>
            </a:extLst>
          </p:cNvPr>
          <p:cNvSpPr/>
          <p:nvPr/>
        </p:nvSpPr>
        <p:spPr>
          <a:xfrm>
            <a:off x="318968" y="1796902"/>
            <a:ext cx="2498651" cy="24773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r>
              <a:rPr lang="es-CO" dirty="0">
                <a:solidFill>
                  <a:schemeClr val="bg2"/>
                </a:solidFill>
              </a:rPr>
              <a:t>Otros</a:t>
            </a: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endParaRPr lang="es-CO" dirty="0">
              <a:solidFill>
                <a:schemeClr val="bg2"/>
              </a:solidFill>
            </a:endParaRPr>
          </a:p>
          <a:p>
            <a:pPr algn="ctr"/>
            <a:r>
              <a:rPr lang="es-CO" dirty="0">
                <a:solidFill>
                  <a:schemeClr val="bg2"/>
                </a:solidFill>
              </a:rPr>
              <a:t>AV pago</a:t>
            </a:r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531ECBA-39B0-CAD6-43D1-997EB2294B42}"/>
              </a:ext>
            </a:extLst>
          </p:cNvPr>
          <p:cNvSpPr/>
          <p:nvPr/>
        </p:nvSpPr>
        <p:spPr>
          <a:xfrm>
            <a:off x="574149" y="2094614"/>
            <a:ext cx="1945757" cy="190322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2"/>
                </a:solidFill>
              </a:rPr>
              <a:t>Voz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4040A84-2A50-894D-3EF0-BE52C571DFBC}"/>
              </a:ext>
            </a:extLst>
          </p:cNvPr>
          <p:cNvSpPr/>
          <p:nvPr/>
        </p:nvSpPr>
        <p:spPr>
          <a:xfrm>
            <a:off x="829331" y="2360428"/>
            <a:ext cx="1414130" cy="13503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Foco Internet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7326589-ABFF-C1F8-807E-893486E80975}"/>
              </a:ext>
            </a:extLst>
          </p:cNvPr>
          <p:cNvSpPr/>
          <p:nvPr/>
        </p:nvSpPr>
        <p:spPr>
          <a:xfrm>
            <a:off x="3317359" y="2551816"/>
            <a:ext cx="776177" cy="76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Perfil A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A213086-909B-8CAF-35F9-03F352C20D92}"/>
              </a:ext>
            </a:extLst>
          </p:cNvPr>
          <p:cNvSpPr/>
          <p:nvPr/>
        </p:nvSpPr>
        <p:spPr>
          <a:xfrm>
            <a:off x="3705447" y="3087316"/>
            <a:ext cx="776177" cy="766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Perfil B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6AAA284-3A62-7B12-61C7-FF113A7C02B3}"/>
              </a:ext>
            </a:extLst>
          </p:cNvPr>
          <p:cNvSpPr/>
          <p:nvPr/>
        </p:nvSpPr>
        <p:spPr>
          <a:xfrm>
            <a:off x="3081671" y="3232297"/>
            <a:ext cx="776177" cy="4440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Perfil C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9742361-48B9-190E-2E8C-C5C7DC8C4D77}"/>
              </a:ext>
            </a:extLst>
          </p:cNvPr>
          <p:cNvSpPr/>
          <p:nvPr/>
        </p:nvSpPr>
        <p:spPr>
          <a:xfrm>
            <a:off x="4061647" y="2864264"/>
            <a:ext cx="776177" cy="282977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chemeClr val="bg2"/>
                </a:solidFill>
              </a:rPr>
              <a:t>Perfil D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BB2DECC-6455-6600-1C5C-58269D3F1F20}"/>
              </a:ext>
            </a:extLst>
          </p:cNvPr>
          <p:cNvSpPr/>
          <p:nvPr/>
        </p:nvSpPr>
        <p:spPr>
          <a:xfrm>
            <a:off x="4013800" y="2390372"/>
            <a:ext cx="776176" cy="35086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bg2"/>
                </a:solidFill>
              </a:rPr>
              <a:t>Perfil 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6221D03-306B-15BE-4F35-6CA0EA63ADDF}"/>
              </a:ext>
            </a:extLst>
          </p:cNvPr>
          <p:cNvSpPr/>
          <p:nvPr/>
        </p:nvSpPr>
        <p:spPr>
          <a:xfrm>
            <a:off x="5433237" y="2115882"/>
            <a:ext cx="1180214" cy="40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/>
              <a:t>Plan 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9EE98B-4EE0-9D57-EF5E-DFDF2395E324}"/>
              </a:ext>
            </a:extLst>
          </p:cNvPr>
          <p:cNvSpPr/>
          <p:nvPr/>
        </p:nvSpPr>
        <p:spPr>
          <a:xfrm>
            <a:off x="5433237" y="2601715"/>
            <a:ext cx="1180214" cy="40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/>
              <a:t>Plan B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7869A78-28E1-BDA3-584B-21764EA3FD13}"/>
              </a:ext>
            </a:extLst>
          </p:cNvPr>
          <p:cNvSpPr/>
          <p:nvPr/>
        </p:nvSpPr>
        <p:spPr>
          <a:xfrm>
            <a:off x="5433237" y="3094072"/>
            <a:ext cx="1180214" cy="40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/>
              <a:t>Plan C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220422-6099-C27A-9501-BAB8A2798A23}"/>
              </a:ext>
            </a:extLst>
          </p:cNvPr>
          <p:cNvSpPr/>
          <p:nvPr/>
        </p:nvSpPr>
        <p:spPr>
          <a:xfrm>
            <a:off x="5433237" y="3593805"/>
            <a:ext cx="1180214" cy="40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dirty="0"/>
              <a:t>Plan D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7C98534-E19D-7DE5-68BD-EB9122238CF9}"/>
              </a:ext>
            </a:extLst>
          </p:cNvPr>
          <p:cNvSpPr/>
          <p:nvPr/>
        </p:nvSpPr>
        <p:spPr>
          <a:xfrm>
            <a:off x="4329224" y="3690158"/>
            <a:ext cx="699976" cy="2826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bg2"/>
                </a:solidFill>
              </a:rPr>
              <a:t>Perfil F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BD91E7B-39D9-3F53-6349-D8F498560989}"/>
              </a:ext>
            </a:extLst>
          </p:cNvPr>
          <p:cNvSpPr/>
          <p:nvPr/>
        </p:nvSpPr>
        <p:spPr>
          <a:xfrm>
            <a:off x="3313824" y="3916716"/>
            <a:ext cx="699976" cy="2826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bg2"/>
                </a:solidFill>
              </a:rPr>
              <a:t>Perfil G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ED30FF-6E09-2453-2D23-2B570AF58484}"/>
              </a:ext>
            </a:extLst>
          </p:cNvPr>
          <p:cNvSpPr txBox="1"/>
          <p:nvPr/>
        </p:nvSpPr>
        <p:spPr>
          <a:xfrm>
            <a:off x="935665" y="1350333"/>
            <a:ext cx="1467293" cy="4440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Decisión foco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7A23BEC-9D58-2440-E467-801B1CA6CBB0}"/>
              </a:ext>
            </a:extLst>
          </p:cNvPr>
          <p:cNvSpPr txBox="1"/>
          <p:nvPr/>
        </p:nvSpPr>
        <p:spPr>
          <a:xfrm>
            <a:off x="2904463" y="1328663"/>
            <a:ext cx="1467293" cy="4440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Grupos población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6F7101B-6F9D-A0D3-A334-15AF4B1C7629}"/>
              </a:ext>
            </a:extLst>
          </p:cNvPr>
          <p:cNvSpPr txBox="1"/>
          <p:nvPr/>
        </p:nvSpPr>
        <p:spPr>
          <a:xfrm>
            <a:off x="5146158" y="1328663"/>
            <a:ext cx="1467293" cy="4440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Análisis necesidades 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y planes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600" b="1" dirty="0">
              <a:solidFill>
                <a:schemeClr val="accent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072522D-3D36-757E-45EB-436C1F44097E}"/>
              </a:ext>
            </a:extLst>
          </p:cNvPr>
          <p:cNvSpPr txBox="1"/>
          <p:nvPr/>
        </p:nvSpPr>
        <p:spPr>
          <a:xfrm>
            <a:off x="7084825" y="1350332"/>
            <a:ext cx="1467293" cy="4440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chemeClr val="accent1"/>
                </a:solidFill>
              </a:rPr>
              <a:t>Recurso TIC genérico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EC1A38E-415E-F75A-D8A8-F33D7B865D7A}"/>
              </a:ext>
            </a:extLst>
          </p:cNvPr>
          <p:cNvCxnSpPr>
            <a:stCxn id="5" idx="6"/>
            <a:endCxn id="6" idx="2"/>
          </p:cNvCxnSpPr>
          <p:nvPr/>
        </p:nvCxnSpPr>
        <p:spPr>
          <a:xfrm flipV="1">
            <a:off x="2243461" y="2934916"/>
            <a:ext cx="1073898" cy="10068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3785C98-8CA4-4FF8-E613-EFAAA6865FBD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256745" y="3055085"/>
            <a:ext cx="824926" cy="39921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5324E10-1CD8-305E-C36F-0832622670D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56300" y="3038158"/>
            <a:ext cx="1562815" cy="1613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3B15032-20B4-BA0F-846F-B804CADB883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284314" y="3005753"/>
            <a:ext cx="1777333" cy="3240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A90B36B-A322-3E98-3CFA-03125792730F}"/>
              </a:ext>
            </a:extLst>
          </p:cNvPr>
          <p:cNvCxnSpPr>
            <a:stCxn id="6" idx="7"/>
            <a:endCxn id="11" idx="1"/>
          </p:cNvCxnSpPr>
          <p:nvPr/>
        </p:nvCxnSpPr>
        <p:spPr>
          <a:xfrm flipV="1">
            <a:off x="3979868" y="2317901"/>
            <a:ext cx="1453369" cy="346122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4CDDB0E-B579-979E-2D0E-4010A5EA74A3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 flipV="1">
            <a:off x="4481624" y="2803734"/>
            <a:ext cx="951613" cy="666682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5C90827-A13C-9220-8E5B-FD4EC6898020}"/>
              </a:ext>
            </a:extLst>
          </p:cNvPr>
          <p:cNvCxnSpPr>
            <a:cxnSpLocks/>
            <a:stCxn id="8" idx="6"/>
            <a:endCxn id="13" idx="1"/>
          </p:cNvCxnSpPr>
          <p:nvPr/>
        </p:nvCxnSpPr>
        <p:spPr>
          <a:xfrm flipV="1">
            <a:off x="3857848" y="3296091"/>
            <a:ext cx="1575389" cy="158210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4704FF6-2FF4-E636-CF34-8DA90CA7782C}"/>
              </a:ext>
            </a:extLst>
          </p:cNvPr>
          <p:cNvCxnSpPr>
            <a:cxnSpLocks/>
            <a:stCxn id="9" idx="5"/>
            <a:endCxn id="14" idx="1"/>
          </p:cNvCxnSpPr>
          <p:nvPr/>
        </p:nvCxnSpPr>
        <p:spPr>
          <a:xfrm>
            <a:off x="4724156" y="3105800"/>
            <a:ext cx="709081" cy="690024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iagrama de flujo: operación manual 28">
            <a:extLst>
              <a:ext uri="{FF2B5EF4-FFF2-40B4-BE49-F238E27FC236}">
                <a16:creationId xmlns:a16="http://schemas.microsoft.com/office/drawing/2014/main" id="{0368DEAD-80F5-D26F-9BC5-01A8B732B074}"/>
              </a:ext>
            </a:extLst>
          </p:cNvPr>
          <p:cNvSpPr/>
          <p:nvPr/>
        </p:nvSpPr>
        <p:spPr>
          <a:xfrm rot="16200000">
            <a:off x="6084755" y="2883801"/>
            <a:ext cx="1881960" cy="346122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Estimaciones  necesidades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0164238-2EFB-5BAB-0E7D-1A18003C44DF}"/>
              </a:ext>
            </a:extLst>
          </p:cNvPr>
          <p:cNvSpPr/>
          <p:nvPr/>
        </p:nvSpPr>
        <p:spPr>
          <a:xfrm>
            <a:off x="7836220" y="2741240"/>
            <a:ext cx="1098676" cy="607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Capacidad per cápita</a:t>
            </a: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A37658E1-CCBA-A6E5-0C69-C7C76D990631}"/>
              </a:ext>
            </a:extLst>
          </p:cNvPr>
          <p:cNvSpPr/>
          <p:nvPr/>
        </p:nvSpPr>
        <p:spPr>
          <a:xfrm>
            <a:off x="6613451" y="2243470"/>
            <a:ext cx="239223" cy="14690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5F70E6A6-0ED7-3B5F-753B-B6BED33CFAEB}"/>
              </a:ext>
            </a:extLst>
          </p:cNvPr>
          <p:cNvSpPr/>
          <p:nvPr/>
        </p:nvSpPr>
        <p:spPr>
          <a:xfrm>
            <a:off x="6616993" y="2746748"/>
            <a:ext cx="239223" cy="14690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21F20AF-355F-BE45-A7D1-D396592970A5}"/>
              </a:ext>
            </a:extLst>
          </p:cNvPr>
          <p:cNvSpPr/>
          <p:nvPr/>
        </p:nvSpPr>
        <p:spPr>
          <a:xfrm>
            <a:off x="6620531" y="3228759"/>
            <a:ext cx="239223" cy="14690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C3D1D92A-486D-7B98-603B-A057F2016E64}"/>
              </a:ext>
            </a:extLst>
          </p:cNvPr>
          <p:cNvSpPr/>
          <p:nvPr/>
        </p:nvSpPr>
        <p:spPr>
          <a:xfrm>
            <a:off x="6613442" y="3710774"/>
            <a:ext cx="239223" cy="146902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AEAD9F8D-A88E-D1D6-AFFD-03ADA85DE78A}"/>
              </a:ext>
            </a:extLst>
          </p:cNvPr>
          <p:cNvSpPr/>
          <p:nvPr/>
        </p:nvSpPr>
        <p:spPr>
          <a:xfrm>
            <a:off x="7198796" y="2803734"/>
            <a:ext cx="655374" cy="545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1281945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5ECE78F-E95A-B906-F5B0-98B691E2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10</a:t>
            </a:fld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C8492A-270F-882A-D04E-835987AF1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28" y="753899"/>
            <a:ext cx="7772400" cy="302685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BC1525C-E3EF-CD09-73F9-04C6974DD7AF}"/>
              </a:ext>
            </a:extLst>
          </p:cNvPr>
          <p:cNvSpPr txBox="1"/>
          <p:nvPr/>
        </p:nvSpPr>
        <p:spPr>
          <a:xfrm>
            <a:off x="529935" y="3969323"/>
            <a:ext cx="3688773" cy="66502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rtlCol="0" anchor="t" anchorCtr="0">
            <a:noAutofit/>
          </a:bodyPr>
          <a:lstStyle/>
          <a:p>
            <a:pPr algn="l"/>
            <a:r>
              <a:rPr lang="en-US" sz="1100" i="0" dirty="0">
                <a:effectLst/>
                <a:latin typeface="Montserrat" panose="00000500000000000000" pitchFamily="2" charset="0"/>
              </a:rPr>
              <a:t>Colombia Median Country Speeds - August 2023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 err="1"/>
              <a:t>Speedtest</a:t>
            </a:r>
            <a:r>
              <a:rPr lang="es-CO" sz="1100" dirty="0"/>
              <a:t> Global </a:t>
            </a:r>
            <a:r>
              <a:rPr lang="es-CO" sz="1100" dirty="0" err="1"/>
              <a:t>Index</a:t>
            </a:r>
            <a:endParaRPr lang="es-CO" sz="1100" dirty="0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/>
              <a:t>https://www.speedtest.net/global-index/colombia#fixed</a:t>
            </a:r>
          </a:p>
        </p:txBody>
      </p:sp>
    </p:spTree>
    <p:extLst>
      <p:ext uri="{BB962C8B-B14F-4D97-AF65-F5344CB8AC3E}">
        <p14:creationId xmlns:p14="http://schemas.microsoft.com/office/powerpoint/2010/main" val="2207761725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7727A8E-CFA1-29A8-66BD-55429020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s-CO" smtClean="0"/>
              <a:pPr/>
              <a:t>11</a:t>
            </a:fld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7266FE-CF7C-E016-A66F-486B4EA1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5" y="1567896"/>
            <a:ext cx="4285176" cy="25717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A7FCC6-24CC-84A0-E10D-FB17ACF2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47" y="1567897"/>
            <a:ext cx="4285178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01660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1D67B1B-741B-30CC-F2BC-6703E1E4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8792" y="4779735"/>
            <a:ext cx="293954" cy="273844"/>
          </a:xfrm>
        </p:spPr>
        <p:txBody>
          <a:bodyPr/>
          <a:lstStyle/>
          <a:p>
            <a:fld id="{00000000-1234-1234-1234-123412341234}" type="slidenum">
              <a:rPr lang="es-CO" smtClean="0"/>
              <a:pPr/>
              <a:t>12</a:t>
            </a:fld>
            <a:endParaRPr lang="es-CO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CC109AA-7826-2521-CC52-B3011B3F6BB6}"/>
              </a:ext>
            </a:extLst>
          </p:cNvPr>
          <p:cNvSpPr/>
          <p:nvPr/>
        </p:nvSpPr>
        <p:spPr>
          <a:xfrm>
            <a:off x="1311961" y="387625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actividades Internet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5BC1875-AB28-EC3E-CFA5-E142078E4EAD}"/>
              </a:ext>
            </a:extLst>
          </p:cNvPr>
          <p:cNvSpPr/>
          <p:nvPr/>
        </p:nvSpPr>
        <p:spPr>
          <a:xfrm>
            <a:off x="2885661" y="387626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usos Internet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8E03511-89B8-E4E1-3ED2-C41DFB7B8CFE}"/>
              </a:ext>
            </a:extLst>
          </p:cNvPr>
          <p:cNvSpPr/>
          <p:nvPr/>
        </p:nvSpPr>
        <p:spPr>
          <a:xfrm>
            <a:off x="4459358" y="387625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Estimación capacidades per cápita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0980C1A-45EA-52B3-DA8F-048CDB3ABBD7}"/>
              </a:ext>
            </a:extLst>
          </p:cNvPr>
          <p:cNvSpPr/>
          <p:nvPr/>
        </p:nvSpPr>
        <p:spPr>
          <a:xfrm>
            <a:off x="1311963" y="1235767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oferta Internet fijo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4523A8E-F3D4-D68A-D652-9723B05FAEA8}"/>
              </a:ext>
            </a:extLst>
          </p:cNvPr>
          <p:cNvSpPr/>
          <p:nvPr/>
        </p:nvSpPr>
        <p:spPr>
          <a:xfrm>
            <a:off x="1311962" y="2633043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oferta Internet móvil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B0CEDF8-9CFC-2ECC-FF83-E96F09A011FE}"/>
              </a:ext>
            </a:extLst>
          </p:cNvPr>
          <p:cNvSpPr/>
          <p:nvPr/>
        </p:nvSpPr>
        <p:spPr>
          <a:xfrm>
            <a:off x="2885660" y="1235766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costos Internet fijo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EF11736-B119-937B-8519-F3DB423FD62A}"/>
              </a:ext>
            </a:extLst>
          </p:cNvPr>
          <p:cNvSpPr/>
          <p:nvPr/>
        </p:nvSpPr>
        <p:spPr>
          <a:xfrm>
            <a:off x="4459358" y="1235765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Definición velocidad objetivo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5A8DDC2-2351-FFD5-22D5-71C96A43673C}"/>
              </a:ext>
            </a:extLst>
          </p:cNvPr>
          <p:cNvSpPr/>
          <p:nvPr/>
        </p:nvSpPr>
        <p:spPr>
          <a:xfrm>
            <a:off x="1311961" y="3630270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oferta técnica terminales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2110448-137C-FE17-8E3E-169F8B0030CE}"/>
              </a:ext>
            </a:extLst>
          </p:cNvPr>
          <p:cNvSpPr/>
          <p:nvPr/>
        </p:nvSpPr>
        <p:spPr>
          <a:xfrm>
            <a:off x="2885660" y="3630270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precios terminales básicas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BF2E2D2-8B8F-2AB8-1834-50135E0AD20C}"/>
              </a:ext>
            </a:extLst>
          </p:cNvPr>
          <p:cNvSpPr/>
          <p:nvPr/>
        </p:nvSpPr>
        <p:spPr>
          <a:xfrm>
            <a:off x="6175518" y="1235764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Definición CBT año 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D9836CD-B80E-E671-628E-6EE22C40ECB2}"/>
              </a:ext>
            </a:extLst>
          </p:cNvPr>
          <p:cNvSpPr/>
          <p:nvPr/>
        </p:nvSpPr>
        <p:spPr>
          <a:xfrm>
            <a:off x="7805533" y="1235763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Actualización anual costo CBT años N+1 y N+1</a:t>
            </a: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76427C9E-B0AC-4D13-CBE6-57E2A9495FA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33866" y="646043"/>
            <a:ext cx="25179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173D88A5-AC84-D7FF-A4C9-ED81A9B729E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207566" y="646043"/>
            <a:ext cx="251792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AA964349-0AC1-F011-1C43-A5F5CA90B93F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4954659" y="1070112"/>
            <a:ext cx="331305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883C6BA8-5B0A-9D0A-A1CD-FC444D0A09E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207565" y="1494183"/>
            <a:ext cx="25179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6EFCD2AC-0479-58AD-0A18-97C146B19A2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633868" y="1494184"/>
            <a:ext cx="25179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A213539D-B7F8-082C-3D1F-12FC0A03B3CD}"/>
              </a:ext>
            </a:extLst>
          </p:cNvPr>
          <p:cNvCxnSpPr>
            <a:cxnSpLocks/>
            <a:stCxn id="52" idx="3"/>
            <a:endCxn id="9" idx="2"/>
          </p:cNvCxnSpPr>
          <p:nvPr/>
        </p:nvCxnSpPr>
        <p:spPr>
          <a:xfrm flipV="1">
            <a:off x="4207565" y="1752600"/>
            <a:ext cx="912746" cy="11388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812B7382-4776-F5AD-FDB5-2BD51530A984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4207565" y="1752599"/>
            <a:ext cx="2628906" cy="21360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97742046-85C7-F94E-4C81-9BF454AC74DF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5781263" y="1494182"/>
            <a:ext cx="394255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6409B1D2-3881-422C-F82D-6EC5E220C78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2633866" y="3888688"/>
            <a:ext cx="251794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DE233464-D9F5-B08B-2B71-49E98E772E19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497423" y="1494181"/>
            <a:ext cx="30811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122D1A00-BB96-BE67-99F7-C6EB3DC0887F}"/>
              </a:ext>
            </a:extLst>
          </p:cNvPr>
          <p:cNvSpPr/>
          <p:nvPr/>
        </p:nvSpPr>
        <p:spPr>
          <a:xfrm>
            <a:off x="2885660" y="2633043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costos Internet móvil</a:t>
            </a:r>
          </a:p>
        </p:txBody>
      </p: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A2D7E502-69D5-AB7E-518F-EFC4CAF5B691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>
            <a:off x="2633867" y="2891461"/>
            <a:ext cx="251793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83EB5355-BA63-36E5-C135-8BD6E4BE6927}"/>
              </a:ext>
            </a:extLst>
          </p:cNvPr>
          <p:cNvSpPr/>
          <p:nvPr/>
        </p:nvSpPr>
        <p:spPr>
          <a:xfrm>
            <a:off x="68664" y="1675987"/>
            <a:ext cx="775252" cy="5694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00" dirty="0"/>
              <a:t>Inicio</a:t>
            </a:r>
          </a:p>
        </p:txBody>
      </p: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060BCC86-3BBF-FA9D-0219-ACEA496661AB}"/>
              </a:ext>
            </a:extLst>
          </p:cNvPr>
          <p:cNvCxnSpPr>
            <a:cxnSpLocks/>
            <a:stCxn id="59" idx="6"/>
            <a:endCxn id="3" idx="1"/>
          </p:cNvCxnSpPr>
          <p:nvPr/>
        </p:nvCxnSpPr>
        <p:spPr>
          <a:xfrm flipV="1">
            <a:off x="843916" y="646043"/>
            <a:ext cx="468045" cy="13146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D2EE6375-D1CE-07EC-6631-3F9EF9EF6820}"/>
              </a:ext>
            </a:extLst>
          </p:cNvPr>
          <p:cNvCxnSpPr>
            <a:cxnSpLocks/>
            <a:stCxn id="59" idx="6"/>
            <a:endCxn id="6" idx="1"/>
          </p:cNvCxnSpPr>
          <p:nvPr/>
        </p:nvCxnSpPr>
        <p:spPr>
          <a:xfrm flipV="1">
            <a:off x="843916" y="1494185"/>
            <a:ext cx="468047" cy="4665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516FA7CB-1268-9FF5-3355-5BA1B724ED14}"/>
              </a:ext>
            </a:extLst>
          </p:cNvPr>
          <p:cNvCxnSpPr>
            <a:cxnSpLocks/>
            <a:stCxn id="59" idx="6"/>
            <a:endCxn id="7" idx="1"/>
          </p:cNvCxnSpPr>
          <p:nvPr/>
        </p:nvCxnSpPr>
        <p:spPr>
          <a:xfrm>
            <a:off x="843916" y="1960702"/>
            <a:ext cx="468046" cy="9307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123ED370-736E-4A37-D4FA-83A8F8BB7619}"/>
              </a:ext>
            </a:extLst>
          </p:cNvPr>
          <p:cNvCxnSpPr>
            <a:cxnSpLocks/>
            <a:stCxn id="59" idx="6"/>
            <a:endCxn id="10" idx="1"/>
          </p:cNvCxnSpPr>
          <p:nvPr/>
        </p:nvCxnSpPr>
        <p:spPr>
          <a:xfrm>
            <a:off x="843916" y="1960702"/>
            <a:ext cx="468045" cy="19279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B9BA6B47-CE8B-CD23-302D-1BAEF596E2AC}"/>
              </a:ext>
            </a:extLst>
          </p:cNvPr>
          <p:cNvCxnSpPr>
            <a:cxnSpLocks/>
            <a:stCxn id="13" idx="2"/>
            <a:endCxn id="59" idx="4"/>
          </p:cNvCxnSpPr>
          <p:nvPr/>
        </p:nvCxnSpPr>
        <p:spPr>
          <a:xfrm rot="5400000">
            <a:off x="4214979" y="-2006091"/>
            <a:ext cx="492819" cy="8010196"/>
          </a:xfrm>
          <a:prstGeom prst="bentConnector3">
            <a:avLst>
              <a:gd name="adj1" fmla="val 6546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44F9C2AF-CF75-E714-8242-343E6CE20959}"/>
              </a:ext>
            </a:extLst>
          </p:cNvPr>
          <p:cNvSpPr/>
          <p:nvPr/>
        </p:nvSpPr>
        <p:spPr>
          <a:xfrm>
            <a:off x="1311960" y="4309444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Análisis oferta capacitación habilidades</a:t>
            </a:r>
          </a:p>
        </p:txBody>
      </p: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F39CB96F-EBC6-1E0D-6DE7-66FF957720B3}"/>
              </a:ext>
            </a:extLst>
          </p:cNvPr>
          <p:cNvSpPr/>
          <p:nvPr/>
        </p:nvSpPr>
        <p:spPr>
          <a:xfrm>
            <a:off x="2885660" y="4304476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Desarrollo iniciativa oferta capacitación</a:t>
            </a:r>
          </a:p>
        </p:txBody>
      </p: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E812D0B9-01AF-8160-B82A-2AA91F46E4C1}"/>
              </a:ext>
            </a:extLst>
          </p:cNvPr>
          <p:cNvCxnSpPr>
            <a:cxnSpLocks/>
            <a:stCxn id="59" idx="6"/>
            <a:endCxn id="77" idx="1"/>
          </p:cNvCxnSpPr>
          <p:nvPr/>
        </p:nvCxnSpPr>
        <p:spPr>
          <a:xfrm>
            <a:off x="843916" y="1960702"/>
            <a:ext cx="468044" cy="2607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angular 81">
            <a:extLst>
              <a:ext uri="{FF2B5EF4-FFF2-40B4-BE49-F238E27FC236}">
                <a16:creationId xmlns:a16="http://schemas.microsoft.com/office/drawing/2014/main" id="{23D5C381-6CEE-3DEF-E5E1-AC3A147CCE99}"/>
              </a:ext>
            </a:extLst>
          </p:cNvPr>
          <p:cNvCxnSpPr>
            <a:cxnSpLocks/>
            <a:stCxn id="78" idx="3"/>
            <a:endCxn id="12" idx="2"/>
          </p:cNvCxnSpPr>
          <p:nvPr/>
        </p:nvCxnSpPr>
        <p:spPr>
          <a:xfrm flipV="1">
            <a:off x="4207565" y="1752599"/>
            <a:ext cx="2628906" cy="28102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0FBCABFE-377C-867A-10FC-463E22CF15E5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2633865" y="4562894"/>
            <a:ext cx="251795" cy="49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ángulo: esquinas redondeadas 89">
            <a:extLst>
              <a:ext uri="{FF2B5EF4-FFF2-40B4-BE49-F238E27FC236}">
                <a16:creationId xmlns:a16="http://schemas.microsoft.com/office/drawing/2014/main" id="{1005552B-3CC2-A2F7-C06F-8580A0A6863F}"/>
              </a:ext>
            </a:extLst>
          </p:cNvPr>
          <p:cNvSpPr/>
          <p:nvPr/>
        </p:nvSpPr>
        <p:spPr>
          <a:xfrm>
            <a:off x="2885657" y="1896824"/>
            <a:ext cx="1321905" cy="5168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/>
              <a:t>Verificación cuellos de botella cadena de valor</a:t>
            </a:r>
          </a:p>
        </p:txBody>
      </p:sp>
      <p:cxnSp>
        <p:nvCxnSpPr>
          <p:cNvPr id="91" name="Conector: angular 90">
            <a:extLst>
              <a:ext uri="{FF2B5EF4-FFF2-40B4-BE49-F238E27FC236}">
                <a16:creationId xmlns:a16="http://schemas.microsoft.com/office/drawing/2014/main" id="{841B5C62-074E-DB0A-28F4-2A4E9E06628D}"/>
              </a:ext>
            </a:extLst>
          </p:cNvPr>
          <p:cNvCxnSpPr>
            <a:cxnSpLocks/>
            <a:stCxn id="90" idx="3"/>
            <a:endCxn id="9" idx="2"/>
          </p:cNvCxnSpPr>
          <p:nvPr/>
        </p:nvCxnSpPr>
        <p:spPr>
          <a:xfrm flipV="1">
            <a:off x="4207562" y="1752600"/>
            <a:ext cx="912749" cy="4026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: angular 93">
            <a:extLst>
              <a:ext uri="{FF2B5EF4-FFF2-40B4-BE49-F238E27FC236}">
                <a16:creationId xmlns:a16="http://schemas.microsoft.com/office/drawing/2014/main" id="{829CDDA0-6EBD-F29F-9792-558B34DD6AA1}"/>
              </a:ext>
            </a:extLst>
          </p:cNvPr>
          <p:cNvCxnSpPr>
            <a:cxnSpLocks/>
            <a:stCxn id="59" idx="6"/>
            <a:endCxn id="90" idx="1"/>
          </p:cNvCxnSpPr>
          <p:nvPr/>
        </p:nvCxnSpPr>
        <p:spPr>
          <a:xfrm>
            <a:off x="843916" y="1960702"/>
            <a:ext cx="2041741" cy="194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84173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44716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Tema2023 - Econometría">
  <a:themeElements>
    <a:clrScheme name="Paleta de color - Econometría">
      <a:dk1>
        <a:srgbClr val="231F20"/>
      </a:dk1>
      <a:lt1>
        <a:srgbClr val="FFFFFF"/>
      </a:lt1>
      <a:dk2>
        <a:srgbClr val="3E3839"/>
      </a:dk2>
      <a:lt2>
        <a:srgbClr val="ECE2CC"/>
      </a:lt2>
      <a:accent1>
        <a:srgbClr val="CE071B"/>
      </a:accent1>
      <a:accent2>
        <a:srgbClr val="9A0514"/>
      </a:accent2>
      <a:accent3>
        <a:srgbClr val="706F6F"/>
      </a:accent3>
      <a:accent4>
        <a:srgbClr val="D8D8D8"/>
      </a:accent4>
      <a:accent5>
        <a:srgbClr val="036177"/>
      </a:accent5>
      <a:accent6>
        <a:srgbClr val="475E16"/>
      </a:accent6>
      <a:hlink>
        <a:srgbClr val="4F9097"/>
      </a:hlink>
      <a:folHlink>
        <a:srgbClr val="76B0B6"/>
      </a:folHlink>
    </a:clrScheme>
    <a:fontScheme name="Personalizado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91425" rIns="91425" bIns="91425" anchor="t" anchorCtr="0">
        <a:noAutofit/>
      </a:bodyPr>
      <a:lstStyle>
        <a:defPPr marL="0" indent="0" algn="l" rtl="0">
          <a:spcBef>
            <a:spcPts val="0"/>
          </a:spcBef>
          <a:spcAft>
            <a:spcPts val="0"/>
          </a:spcAft>
          <a:buNone/>
          <a:defRPr sz="3000" b="1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023 - Econometría" id="{5D5FBFE2-CDE0-4591-8442-A342A3C2CEC1}" vid="{D9357102-CA6B-49CE-A6AA-963AFAB3DFD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Tema2023 - Econometría</Template>
  <TotalTime>10538</TotalTime>
  <Words>462</Words>
  <Application>Microsoft Office PowerPoint</Application>
  <PresentationFormat>Presentación en pantalla (16:9)</PresentationFormat>
  <Paragraphs>187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Calibri Light</vt:lpstr>
      <vt:lpstr>Arial</vt:lpstr>
      <vt:lpstr>Calibri</vt:lpstr>
      <vt:lpstr>Montserrat</vt:lpstr>
      <vt:lpstr>Tema2023 - Econometría</vt:lpstr>
      <vt:lpstr>Estudio que determina la composición y el valor de una Canasta Básica TIC (CBT)  para Colombia. </vt:lpstr>
      <vt:lpstr>Slides Entregable 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Ana María Sandoval Alvarado</dc:creator>
  <cp:lastModifiedBy>Mauricio Lopez Calderon Lopez</cp:lastModifiedBy>
  <cp:revision>162</cp:revision>
  <dcterms:modified xsi:type="dcterms:W3CDTF">2023-10-17T18:29:35Z</dcterms:modified>
</cp:coreProperties>
</file>